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8"/>
  </p:notesMasterIdLst>
  <p:handoutMasterIdLst>
    <p:handoutMasterId r:id="rId29"/>
  </p:handoutMasterIdLst>
  <p:sldIdLst>
    <p:sldId id="256" r:id="rId2"/>
    <p:sldId id="289" r:id="rId3"/>
    <p:sldId id="290" r:id="rId4"/>
    <p:sldId id="291" r:id="rId5"/>
    <p:sldId id="296" r:id="rId6"/>
    <p:sldId id="297" r:id="rId7"/>
    <p:sldId id="298" r:id="rId8"/>
    <p:sldId id="292" r:id="rId9"/>
    <p:sldId id="293" r:id="rId10"/>
    <p:sldId id="299" r:id="rId11"/>
    <p:sldId id="300" r:id="rId12"/>
    <p:sldId id="301" r:id="rId13"/>
    <p:sldId id="294" r:id="rId14"/>
    <p:sldId id="302" r:id="rId15"/>
    <p:sldId id="303" r:id="rId16"/>
    <p:sldId id="304" r:id="rId17"/>
    <p:sldId id="295" r:id="rId18"/>
    <p:sldId id="305" r:id="rId19"/>
    <p:sldId id="306" r:id="rId20"/>
    <p:sldId id="307" r:id="rId21"/>
    <p:sldId id="308" r:id="rId22"/>
    <p:sldId id="309" r:id="rId23"/>
    <p:sldId id="313" r:id="rId24"/>
    <p:sldId id="314" r:id="rId25"/>
    <p:sldId id="310" r:id="rId26"/>
    <p:sldId id="288" r:id="rId2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2A876E-0754-B308-93FC-C84C513B7065}" name="Sandra Navarro Gil" initials="SN" userId="S::SNAVGIL@upv.edu.es::fd3d9b96-45a4-47de-bc8b-cef859911e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C9CE88-8039-4C6C-B251-63EE40782FEB}" v="831" dt="2026-06-10T07:15:15.489"/>
    <p1510:client id="{B53EA11F-3D66-4BA9-B2BA-AE3D29EB7713}" v="426" dt="2026-06-10T07:13:01.95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300" y="-25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10/06/2026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10/06/2026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57A21-14B1-6B35-1006-555AACDC94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7B9E2C-42FD-1334-5C3E-2A3934E66D8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F8B1C0-6B91-34FF-413E-68921875F69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94DD43-1E0C-303A-7E54-7C32AE2139C7}"/>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326461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A339B-FEEC-1C84-6366-42B64B3F32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C1A560-56BB-4DD9-201B-71A36258B7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A7A0937-F4A4-D0DB-389C-6F85E37C436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33BD635-74D4-AFD7-9737-0091CAAB846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418636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E2924-CA34-DAA3-B09D-5EF17203882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8A83F6-B290-8747-7434-5EA83F9124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9CFD35-0731-E6C0-D3EE-9E1BCC6968E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2B6E9C9-0E55-AAB8-6D69-D6C4EB6A7A3F}"/>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921219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B3831-DDD6-2DC1-F2F9-31248A3151C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60BEB9-B054-D916-A5F5-94D00816246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225476F-782C-2F6C-E439-EBA5DEE7338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83A7C5C-C3D0-E687-382C-79FECDC36AE6}"/>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054693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E1FA-72C1-BCC3-8FDE-1BA5702830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C92EADA-7A15-35DB-8941-1B6EC73005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D6BF82-E6AB-13E7-ADEC-8E9A73B150F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181CF5F-6A6A-596C-466C-7D4B53BA13D3}"/>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1901606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D8A3F-B9DA-2A47-9788-863B231705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AC4A26-A0E3-BCDD-A701-98A29E938E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7B469A4-C718-6243-BB81-37CA48A90A0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67E2787-0834-7DE8-DDA1-776A4C2B2789}"/>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743551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EAE7-9EAB-544B-26F0-D89AD57C0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142DDC-39F3-B8EF-C550-B1BDBF7983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4E7676-8E00-A60E-B890-D4F612C9A5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F8AAF8C-62CF-3619-1C70-91E48BE9A4C4}"/>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163104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078AD-2D71-F0F4-8C34-C01E3A36E0A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0F5F899-332A-F0AF-CC26-F4052C45BB6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20E927-5F4C-1843-F485-2CD0797E613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9690CB5-BCB9-4511-64D6-DC12792FA1EA}"/>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905902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83B04-361E-6E3F-BC15-5E037A93F9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64D9AB-4410-3BCE-E14A-2AE20C737DA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DFEB307-2A92-3A03-2773-36BB0B5A220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8A7880-BC6B-20ED-3946-DFB571882524}"/>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3186092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1E050-76CB-B7B6-7AC3-60BE843B48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0B9777-B2C9-A6E3-DAA2-2956B253806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DA2C91-CA31-E358-641E-AA45392E5C0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FBE9F9C-54BD-A395-6FDD-8BC89E152D4C}"/>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445427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576459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37D98-2ADE-2503-ABCE-219936B14F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DB066E-9C7E-0180-AAB1-CC903577EB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A59E81-2094-1D88-DD68-9DD5E49C3C1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58D2C8B-7C1B-EE21-E34C-C8D0CCDFA39F}"/>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162257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4A73B-995C-2321-4699-2289002947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E43776-6A65-A2A2-87BF-6CAE8019781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F64258F-9C3F-D08F-C34B-FACAC4B0AA8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AE3FF6F-3B25-C38B-3803-508EC3B180C1}"/>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828791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CA826-7799-A017-CA87-3AAF6F3AD4B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BB37BFC-E0DE-066E-F3FF-749367BD151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68FE88-F0A6-2270-C29F-9BF29E10867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E0B46AC-A294-1A30-5D19-4833213F1C98}"/>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697471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6B1E8-7551-462B-6062-668EA75699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0D04A7-2656-8831-C3F2-2AC89A486B8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AEE94C-37CA-677F-3B52-420EB9257A9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48CCAF8-95FF-D5B5-1F37-67DA7BC03A69}"/>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1807488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2B62C-1BEF-A148-08F7-B708DDFD132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522996-3D77-85AC-69CE-0B37735339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17FA600-D340-AC54-241E-85FDA226685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C63E20F-6CAF-D26C-40FA-F0CCB283BAD6}"/>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27767273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157FB-BBDD-C694-4916-3A07EE5427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CAD8E89-D77D-A8CE-307C-A8D1B45F6BD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A1DF98-41DC-BFFE-FD70-ACC90AC403E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7CF01BF-7EDB-C6AA-4CE5-5DD9E6A7A38B}"/>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2942354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00CA4-F718-BFA7-F859-DB48ACE5BB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5506CA-6EBA-E8F9-6882-C82CBD8ECD1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271AA99-5D4C-A41B-CEF3-94DC12D0C28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3FE0A16-BA19-1E08-C632-BC3D20BFE6C4}"/>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12508620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FB28F-7ED6-3136-3B9C-5BD347F3D0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0E37AB-5E6A-E061-1CC1-502E6441286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2D1A08-4782-0C19-A9D9-D491E3795AB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FFCFEC0-41B7-D0D5-80AD-9E3EB6118F99}"/>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3644512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a:t>Texto del contenido</a:t>
            </a:r>
          </a:p>
          <a:p>
            <a:pPr lvl="1"/>
            <a:r>
              <a:rPr lang="es-ES"/>
              <a:t>Segundo nivel</a:t>
            </a:r>
          </a:p>
          <a:p>
            <a:pPr lvl="2"/>
            <a:r>
              <a:rPr lang="es-ES"/>
              <a:t>Tercer nivel</a:t>
            </a:r>
          </a:p>
          <a:p>
            <a:pPr lvl="3"/>
            <a:r>
              <a:rPr lang="es-ES"/>
              <a:t>Cuarto nivel</a:t>
            </a:r>
          </a:p>
          <a:p>
            <a:pPr lvl="4"/>
            <a:r>
              <a:rPr lang="es-ES"/>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4.0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Students</a:t>
            </a:r>
            <a:r>
              <a:rPr lang="es-ES" spc="165" dirty="0">
                <a:latin typeface="Arial"/>
                <a:cs typeface="Arial"/>
              </a:rPr>
              <a:t>: Ivan Martínez Mora &amp; Sandra Navarro Gil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a:t>
            </a:r>
            <a:r>
              <a:rPr lang="en-US" kern="0">
                <a:solidFill>
                  <a:sysClr val="windowText" lastClr="000000"/>
                </a:solidFill>
                <a:sym typeface="Wingdings" pitchFamily="2" charset="2"/>
                <a:hlinkClick r:id="rId3"/>
              </a:rPr>
              <a:t>https://github.com/pascualmunoz/cifoin-lab4.git</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Open folder / repo in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Open terminal: </a:t>
            </a:r>
            <a:r>
              <a:rPr lang="en-US" kern="0" err="1">
                <a:solidFill>
                  <a:sysClr val="windowText" lastClr="000000"/>
                </a:solidFill>
                <a:sym typeface="Wingdings" pitchFamily="2" charset="2"/>
              </a:rPr>
              <a:t>uv</a:t>
            </a:r>
            <a:r>
              <a:rPr lang="en-US" kern="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LAYOUT_STUDENT.ipynb</a:t>
            </a:r>
            <a:r>
              <a:rPr lang="en-US" kern="0">
                <a:solidFill>
                  <a:sysClr val="windowText" lastClr="000000"/>
                </a:solidFill>
              </a:rPr>
              <a:t> </a:t>
            </a:r>
          </a:p>
          <a:p>
            <a:pPr marL="342900" indent="-342900" algn="just">
              <a:buFont typeface="Arial" panose="020B0604020202020204" pitchFamily="34" charset="0"/>
              <a:buChar char="•"/>
            </a:pPr>
            <a:endParaRPr lang="en-US" kern="0">
              <a:solidFill>
                <a:sysClr val="windowText" lastClr="000000"/>
              </a:solidFill>
            </a:endParaRPr>
          </a:p>
          <a:p>
            <a:pPr marL="342900" indent="-342900" algn="just">
              <a:buFont typeface="Arial" panose="020B0604020202020204" pitchFamily="34" charset="0"/>
              <a:buChar char="•"/>
            </a:pPr>
            <a:r>
              <a:rPr lang="en-US" b="1" kern="0">
                <a:solidFill>
                  <a:srgbClr val="FF0000"/>
                </a:solidFill>
              </a:rPr>
              <a:t>Points</a:t>
            </a:r>
          </a:p>
          <a:p>
            <a:pPr marL="800100" lvl="1" indent="-342900" algn="just">
              <a:buFont typeface="Arial" panose="020B0604020202020204" pitchFamily="34" charset="0"/>
              <a:buChar char="•"/>
            </a:pPr>
            <a:r>
              <a:rPr lang="en-US" b="1" kern="0">
                <a:solidFill>
                  <a:srgbClr val="FF0000"/>
                </a:solidFill>
              </a:rPr>
              <a:t>LO1: 3 points</a:t>
            </a:r>
          </a:p>
          <a:p>
            <a:pPr marL="800100" lvl="1" indent="-342900" algn="just">
              <a:buFont typeface="Arial" panose="020B0604020202020204" pitchFamily="34" charset="0"/>
              <a:buChar char="•"/>
            </a:pPr>
            <a:r>
              <a:rPr lang="en-US" b="1" kern="0">
                <a:solidFill>
                  <a:srgbClr val="FF0000"/>
                </a:solidFill>
              </a:rPr>
              <a:t>LO2: 3 points</a:t>
            </a:r>
          </a:p>
          <a:p>
            <a:pPr marL="800100" lvl="1" indent="-342900" algn="just">
              <a:buFont typeface="Arial" panose="020B0604020202020204" pitchFamily="34" charset="0"/>
              <a:buChar char="•"/>
            </a:pPr>
            <a:r>
              <a:rPr lang="en-US" b="1" kern="0">
                <a:solidFill>
                  <a:srgbClr val="FF0000"/>
                </a:solidFill>
              </a:rPr>
              <a:t>LO3: 1 points</a:t>
            </a:r>
          </a:p>
          <a:p>
            <a:pPr marL="800100" lvl="1" indent="-342900" algn="just">
              <a:buFont typeface="Arial" panose="020B0604020202020204" pitchFamily="34" charset="0"/>
              <a:buChar char="•"/>
            </a:pPr>
            <a:r>
              <a:rPr lang="en-US" b="1" kern="0">
                <a:solidFill>
                  <a:srgbClr val="FF0000"/>
                </a:solidFill>
              </a:rPr>
              <a:t>LO4: 3 points</a:t>
            </a:r>
          </a:p>
          <a:p>
            <a:pPr algn="just"/>
            <a:endParaRPr lang="en-US" b="1" i="1"/>
          </a:p>
          <a:p>
            <a:pPr algn="just"/>
            <a:endParaRPr lang="en-US" sz="2000" b="1" i="1"/>
          </a:p>
          <a:p>
            <a:pPr algn="just"/>
            <a:endParaRPr lang="en-US" sz="2000" kern="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Notebook section 1. Technology</a:t>
            </a:r>
            <a:br>
              <a:rPr lang="es-ES" sz="2500" spc="-5" dirty="0">
                <a:latin typeface="+mj-lt"/>
                <a:cs typeface="Lucida Sans"/>
              </a:rPr>
            </a:br>
            <a:r>
              <a:rPr lang="es-ES" b="0" i="1" spc="-5" dirty="0">
                <a:latin typeface="+mj-lt"/>
              </a:rPr>
              <a:t>“</a:t>
            </a:r>
            <a:r>
              <a:rPr lang="es-ES" b="0" i="1" spc="-5" dirty="0" err="1">
                <a:latin typeface="+mj-lt"/>
              </a:rPr>
              <a:t>We</a:t>
            </a:r>
            <a:r>
              <a:rPr lang="es-ES" b="0" i="1" spc="-5" dirty="0">
                <a:latin typeface="+mj-lt"/>
              </a:rPr>
              <a:t> </a:t>
            </a:r>
            <a:r>
              <a:rPr lang="es-ES" b="0" i="1" spc="-5" dirty="0" err="1">
                <a:latin typeface="+mj-lt"/>
              </a:rPr>
              <a:t>will</a:t>
            </a:r>
            <a:r>
              <a:rPr lang="es-ES" b="0" i="1" spc="-5" dirty="0">
                <a:latin typeface="+mj-lt"/>
              </a:rPr>
              <a:t> </a:t>
            </a:r>
            <a:r>
              <a:rPr lang="es-ES" b="0" i="1" spc="-5" dirty="0" err="1">
                <a:latin typeface="+mj-lt"/>
              </a:rPr>
              <a:t>work</a:t>
            </a:r>
            <a:r>
              <a:rPr lang="es-ES" b="0" i="1" spc="-5" dirty="0">
                <a:latin typeface="+mj-lt"/>
                <a:cs typeface="Lucida Sans"/>
              </a:rPr>
              <a:t> </a:t>
            </a:r>
            <a:r>
              <a:rPr lang="es-ES" b="0" i="1" spc="-5" dirty="0" err="1">
                <a:latin typeface="+mj-lt"/>
                <a:cs typeface="Lucida Sans"/>
              </a:rPr>
              <a:t>with</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demo </a:t>
            </a:r>
            <a:r>
              <a:rPr lang="es-ES" b="0" i="1" spc="-5" dirty="0" err="1">
                <a:latin typeface="+mj-lt"/>
                <a:cs typeface="Lucida Sans"/>
              </a:rPr>
              <a:t>UPVfab</a:t>
            </a:r>
            <a:r>
              <a:rPr lang="es-ES" b="0" i="1" spc="-5" dirty="0">
                <a:latin typeface="+mj-lt"/>
                <a:cs typeface="Lucida Sans"/>
              </a:rPr>
              <a:t> PDK. </a:t>
            </a:r>
            <a:r>
              <a:rPr lang="es-ES" b="0" i="1" spc="-5" dirty="0" err="1">
                <a:latin typeface="+mj-lt"/>
                <a:cs typeface="Lucida Sans"/>
              </a:rPr>
              <a:t>Let's</a:t>
            </a:r>
            <a:r>
              <a:rPr lang="es-ES" b="0" i="1" spc="-5" dirty="0">
                <a:latin typeface="+mj-lt"/>
                <a:cs typeface="Lucida Sans"/>
              </a:rPr>
              <a:t> </a:t>
            </a:r>
            <a:r>
              <a:rPr lang="es-ES" b="0" i="1" spc="-5" dirty="0" err="1">
                <a:latin typeface="+mj-lt"/>
                <a:cs typeface="Lucida Sans"/>
              </a:rPr>
              <a:t>view</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a:t>
            </a:r>
            <a:r>
              <a:rPr lang="es-ES" b="0" i="1" spc="-5" dirty="0" err="1">
                <a:latin typeface="+mj-lt"/>
                <a:cs typeface="Lucida Sans"/>
              </a:rPr>
              <a:t>layer</a:t>
            </a:r>
            <a:r>
              <a:rPr lang="es-ES" b="0" i="1" spc="-5" dirty="0">
                <a:latin typeface="+mj-lt"/>
                <a:cs typeface="Lucida Sans"/>
              </a:rPr>
              <a:t> </a:t>
            </a:r>
            <a:r>
              <a:rPr lang="es-ES" b="0" i="1" spc="-5" dirty="0" err="1">
                <a:latin typeface="+mj-lt"/>
                <a:cs typeface="Lucida Sans"/>
              </a:rPr>
              <a:t>distribution</a:t>
            </a:r>
            <a:r>
              <a:rPr lang="es-ES" b="0" i="1" spc="-5" dirty="0">
                <a:latin typeface="+mj-lt"/>
                <a:cs typeface="Lucida Sans"/>
              </a:rPr>
              <a:t> of </a:t>
            </a:r>
            <a:r>
              <a:rPr lang="es-ES" b="0" i="1" spc="-5" dirty="0" err="1">
                <a:latin typeface="+mj-lt"/>
                <a:cs typeface="Lucida Sans"/>
              </a:rPr>
              <a:t>this</a:t>
            </a:r>
            <a:r>
              <a:rPr lang="es-ES" b="0" i="1" spc="-5" dirty="0">
                <a:latin typeface="+mj-lt"/>
                <a:cs typeface="Lucida Sans"/>
              </a:rPr>
              <a:t> PDK”</a:t>
            </a:r>
            <a:endParaRPr sz="2500" b="0" i="1"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Un </a:t>
            </a:r>
            <a:r>
              <a:rPr lang="es-ES" sz="1200" b="1" dirty="0">
                <a:latin typeface="Arial" panose="020B0604020202020204" pitchFamily="34" charset="0"/>
                <a:cs typeface="Arial" panose="020B0604020202020204" pitchFamily="34" charset="0"/>
              </a:rPr>
              <a:t>PDK (Process </a:t>
            </a:r>
            <a:r>
              <a:rPr lang="es-ES" sz="1200" b="1" dirty="0" err="1">
                <a:latin typeface="Arial" panose="020B0604020202020204" pitchFamily="34" charset="0"/>
                <a:cs typeface="Arial" panose="020B0604020202020204" pitchFamily="34" charset="0"/>
              </a:rPr>
              <a:t>Design</a:t>
            </a:r>
            <a:r>
              <a:rPr lang="es-ES" sz="1200" b="1" dirty="0">
                <a:latin typeface="Arial" panose="020B0604020202020204" pitchFamily="34" charset="0"/>
                <a:cs typeface="Arial" panose="020B0604020202020204" pitchFamily="34" charset="0"/>
              </a:rPr>
              <a:t> Kit)</a:t>
            </a:r>
            <a:r>
              <a:rPr lang="es-ES" sz="1200" dirty="0">
                <a:latin typeface="Arial" panose="020B0604020202020204" pitchFamily="34" charset="0"/>
                <a:cs typeface="Arial" panose="020B0604020202020204" pitchFamily="34" charset="0"/>
              </a:rPr>
              <a:t> es un conjunto de reglas de diseño, modelos de dispositivos y definiciones de capas proporcionado por la fundición para permitir a los diseñadores crear </a:t>
            </a:r>
            <a:r>
              <a:rPr lang="es-ES" sz="1200" dirty="0" err="1">
                <a:latin typeface="Arial" panose="020B0604020202020204" pitchFamily="34" charset="0"/>
                <a:cs typeface="Arial" panose="020B0604020202020204" pitchFamily="34" charset="0"/>
              </a:rPr>
              <a:t>layouts</a:t>
            </a:r>
            <a:r>
              <a:rPr lang="es-ES" sz="1200" dirty="0">
                <a:latin typeface="Arial" panose="020B0604020202020204" pitchFamily="34" charset="0"/>
                <a:cs typeface="Arial" panose="020B0604020202020204" pitchFamily="34" charset="0"/>
              </a:rPr>
              <a:t> compatibles con el proceso de fabricación. En general, las capas en un PDK representan distintos materiales y estructuras físicas del proceso de fabricación, como metales, polisilicio, vías y otros elementos necesarios para construir los dispositivos en el chip. </a:t>
            </a:r>
            <a:endParaRPr lang="en-US" sz="1200" dirty="0">
              <a:latin typeface="Arial" panose="020B0604020202020204" pitchFamily="34" charset="0"/>
              <a:cs typeface="Arial" panose="020B0604020202020204" pitchFamily="34" charset="0"/>
            </a:endParaRP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la imagen se muestran las capas principales del PDK, como la capa de guía óptica (</a:t>
            </a:r>
            <a:r>
              <a:rPr lang="es-ES" sz="1200" dirty="0" err="1">
                <a:latin typeface="Arial" panose="020B0604020202020204" pitchFamily="34" charset="0"/>
                <a:cs typeface="Arial" panose="020B0604020202020204" pitchFamily="34" charset="0"/>
              </a:rPr>
              <a:t>nº</a:t>
            </a:r>
            <a:r>
              <a:rPr lang="es-ES" sz="1200" dirty="0">
                <a:latin typeface="Arial" panose="020B0604020202020204" pitchFamily="34" charset="0"/>
                <a:cs typeface="Arial" panose="020B0604020202020204" pitchFamily="34" charset="0"/>
              </a:rPr>
              <a:t> 1), capas de </a:t>
            </a:r>
            <a:r>
              <a:rPr lang="es-ES" sz="1200" dirty="0" err="1">
                <a:latin typeface="Arial" panose="020B0604020202020204" pitchFamily="34" charset="0"/>
                <a:cs typeface="Arial" panose="020B0604020202020204" pitchFamily="34" charset="0"/>
              </a:rPr>
              <a:t>heater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nº</a:t>
            </a:r>
            <a:r>
              <a:rPr lang="es-ES" sz="1200" dirty="0">
                <a:latin typeface="Arial" panose="020B0604020202020204" pitchFamily="34" charset="0"/>
                <a:cs typeface="Arial" panose="020B0604020202020204" pitchFamily="34" charset="0"/>
              </a:rPr>
              <a:t> 21), metal (</a:t>
            </a:r>
            <a:r>
              <a:rPr lang="es-ES" sz="1200" dirty="0" err="1">
                <a:latin typeface="Arial" panose="020B0604020202020204" pitchFamily="34" charset="0"/>
                <a:cs typeface="Arial" panose="020B0604020202020204" pitchFamily="34" charset="0"/>
              </a:rPr>
              <a:t>nº</a:t>
            </a:r>
            <a:r>
              <a:rPr lang="es-ES" sz="1200" dirty="0">
                <a:latin typeface="Arial" panose="020B0604020202020204" pitchFamily="34" charset="0"/>
                <a:cs typeface="Arial" panose="020B0604020202020204" pitchFamily="34" charset="0"/>
              </a:rPr>
              <a:t> 41), </a:t>
            </a:r>
            <a:r>
              <a:rPr lang="es-ES" sz="1200" dirty="0" err="1">
                <a:latin typeface="Arial" panose="020B0604020202020204" pitchFamily="34" charset="0"/>
                <a:cs typeface="Arial" panose="020B0604020202020204" pitchFamily="34" charset="0"/>
              </a:rPr>
              <a:t>floorplan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nº</a:t>
            </a:r>
            <a:r>
              <a:rPr lang="es-ES" sz="1200" dirty="0">
                <a:latin typeface="Arial" panose="020B0604020202020204" pitchFamily="34" charset="0"/>
                <a:cs typeface="Arial" panose="020B0604020202020204" pitchFamily="34" charset="0"/>
              </a:rPr>
              <a:t> 99) y otras capas auxiliares (</a:t>
            </a:r>
            <a:r>
              <a:rPr lang="es-ES" sz="1200" dirty="0" err="1">
                <a:latin typeface="Arial" panose="020B0604020202020204" pitchFamily="34" charset="0"/>
                <a:cs typeface="Arial" panose="020B0604020202020204" pitchFamily="34" charset="0"/>
              </a:rPr>
              <a:t>nº</a:t>
            </a:r>
            <a:r>
              <a:rPr lang="es-ES" sz="1200" dirty="0">
                <a:latin typeface="Arial" panose="020B0604020202020204" pitchFamily="34" charset="0"/>
                <a:cs typeface="Arial" panose="020B0604020202020204" pitchFamily="34" charset="0"/>
              </a:rPr>
              <a:t> 100 y 101), . Estas capas permiten separar físicamente las distintas partes del diseño: guías ópticas, elementos metálicos, </a:t>
            </a:r>
            <a:r>
              <a:rPr lang="es-ES" sz="1200" dirty="0" err="1">
                <a:latin typeface="Arial" panose="020B0604020202020204" pitchFamily="34" charset="0"/>
                <a:cs typeface="Arial" panose="020B0604020202020204" pitchFamily="34" charset="0"/>
              </a:rPr>
              <a:t>heaters</a:t>
            </a:r>
            <a:r>
              <a:rPr lang="es-ES" sz="1200" dirty="0">
                <a:latin typeface="Arial" panose="020B0604020202020204" pitchFamily="34" charset="0"/>
                <a:cs typeface="Arial" panose="020B0604020202020204" pitchFamily="34" charset="0"/>
              </a:rPr>
              <a:t>, marcadores y contorno del chip.</a:t>
            </a: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763342" y="2494306"/>
            <a:ext cx="5024773" cy="646331"/>
          </a:xfrm>
          <a:prstGeom prst="rect">
            <a:avLst/>
          </a:prstGeom>
          <a:noFill/>
        </p:spPr>
        <p:txBody>
          <a:bodyPr wrap="none" rtlCol="0">
            <a:spAutoFit/>
          </a:bodyPr>
          <a:lstStyle/>
          <a:p>
            <a:pPr algn="ctr"/>
            <a:r>
              <a:rPr lang="en-US"/>
              <a:t>Paste code to view the layer distribution of this PDK</a:t>
            </a:r>
          </a:p>
          <a:p>
            <a:pPr algn="ctr"/>
            <a:endParaRPr lang="en-US"/>
          </a:p>
        </p:txBody>
      </p:sp>
      <p:sp>
        <p:nvSpPr>
          <p:cNvPr id="8" name="Rectángulo 7">
            <a:extLst>
              <a:ext uri="{FF2B5EF4-FFF2-40B4-BE49-F238E27FC236}">
                <a16:creationId xmlns:a16="http://schemas.microsoft.com/office/drawing/2014/main" id="{8BEC3D78-C227-4F8E-7F5D-F398FB043D2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2B95E4CF-A1BA-0EE3-5143-FB50B2000415}"/>
              </a:ext>
            </a:extLst>
          </p:cNvPr>
          <p:cNvPicPr>
            <a:picLocks noChangeAspect="1"/>
          </p:cNvPicPr>
          <p:nvPr/>
        </p:nvPicPr>
        <p:blipFill>
          <a:blip r:embed="rId4"/>
          <a:stretch>
            <a:fillRect/>
          </a:stretch>
        </p:blipFill>
        <p:spPr>
          <a:xfrm>
            <a:off x="7040996" y="1485428"/>
            <a:ext cx="4204259" cy="3173804"/>
          </a:xfrm>
          <a:prstGeom prst="rect">
            <a:avLst/>
          </a:prstGeom>
        </p:spPr>
      </p:pic>
      <p:pic>
        <p:nvPicPr>
          <p:cNvPr id="11" name="Imagen 10">
            <a:extLst>
              <a:ext uri="{FF2B5EF4-FFF2-40B4-BE49-F238E27FC236}">
                <a16:creationId xmlns:a16="http://schemas.microsoft.com/office/drawing/2014/main" id="{1FFFF783-B740-72B4-AAE1-6AFD9CF4E5E7}"/>
              </a:ext>
            </a:extLst>
          </p:cNvPr>
          <p:cNvPicPr>
            <a:picLocks noChangeAspect="1"/>
          </p:cNvPicPr>
          <p:nvPr/>
        </p:nvPicPr>
        <p:blipFill>
          <a:blip r:embed="rId5"/>
          <a:stretch>
            <a:fillRect/>
          </a:stretch>
        </p:blipFill>
        <p:spPr>
          <a:xfrm>
            <a:off x="1294249" y="3115237"/>
            <a:ext cx="3962953" cy="1190791"/>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85800" y="478487"/>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a:t>
            </a:r>
            <a:endParaRPr sz="2500" b="0" i="1" dirty="0">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A1BE4500-9BE4-025B-9167-E8AC6466B028}"/>
              </a:ext>
            </a:extLst>
          </p:cNvPr>
          <p:cNvSpPr txBox="1"/>
          <p:nvPr/>
        </p:nvSpPr>
        <p:spPr>
          <a:xfrm>
            <a:off x="583019" y="5514796"/>
            <a:ext cx="11199971" cy="46166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esta diapositiva se muestra el layout del acoplador direccional 2x2 diseñado en la práctica 2. El componente está formado por dos guías rectas paralelas, </a:t>
            </a:r>
            <a:r>
              <a:rPr lang="es-ES" sz="1200" i="1" dirty="0">
                <a:latin typeface="Arial" panose="020B0604020202020204" pitchFamily="34" charset="0"/>
                <a:ea typeface="+mj-ea"/>
                <a:cs typeface="Arial" panose="020B0604020202020204" pitchFamily="34" charset="0"/>
              </a:rPr>
              <a:t>separadas por un gap de </a:t>
            </a:r>
            <a:r>
              <a:rPr lang="es-ES" sz="1200" dirty="0">
                <a:latin typeface="Arial" panose="020B0604020202020204" pitchFamily="34" charset="0"/>
                <a:cs typeface="Arial" panose="020B0604020202020204" pitchFamily="34" charset="0"/>
              </a:rPr>
              <a:t>1μm, con una anchura en cada guía de 1.2μm, por lo que la separación centro a centro entre ambas guías es 2.1μm.</a:t>
            </a:r>
          </a:p>
        </p:txBody>
      </p:sp>
      <p:sp>
        <p:nvSpPr>
          <p:cNvPr id="6" name="Rectángulo 5">
            <a:extLst>
              <a:ext uri="{FF2B5EF4-FFF2-40B4-BE49-F238E27FC236}">
                <a16:creationId xmlns:a16="http://schemas.microsoft.com/office/drawing/2014/main" id="{FB364273-7E07-9E83-F4A6-1AFD1AEFE243}"/>
              </a:ext>
            </a:extLst>
          </p:cNvPr>
          <p:cNvSpPr/>
          <p:nvPr/>
        </p:nvSpPr>
        <p:spPr>
          <a:xfrm>
            <a:off x="609441" y="1418372"/>
            <a:ext cx="5337652" cy="371886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8C1E968B-0AE0-37CB-7468-A50896329E70}"/>
              </a:ext>
            </a:extLst>
          </p:cNvPr>
          <p:cNvSpPr/>
          <p:nvPr/>
        </p:nvSpPr>
        <p:spPr>
          <a:xfrm>
            <a:off x="6096001" y="1420405"/>
            <a:ext cx="5713412" cy="371886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432AB999-F020-52EB-2B70-F24EAC8598AD}"/>
              </a:ext>
            </a:extLst>
          </p:cNvPr>
          <p:cNvPicPr>
            <a:picLocks noChangeAspect="1"/>
          </p:cNvPicPr>
          <p:nvPr/>
        </p:nvPicPr>
        <p:blipFill>
          <a:blip r:embed="rId4"/>
          <a:stretch>
            <a:fillRect/>
          </a:stretch>
        </p:blipFill>
        <p:spPr>
          <a:xfrm>
            <a:off x="670129" y="1863888"/>
            <a:ext cx="5216275" cy="2811284"/>
          </a:xfrm>
          <a:prstGeom prst="rect">
            <a:avLst/>
          </a:prstGeom>
        </p:spPr>
      </p:pic>
      <p:pic>
        <p:nvPicPr>
          <p:cNvPr id="5" name="Imagen 4">
            <a:extLst>
              <a:ext uri="{FF2B5EF4-FFF2-40B4-BE49-F238E27FC236}">
                <a16:creationId xmlns:a16="http://schemas.microsoft.com/office/drawing/2014/main" id="{2EC39194-E547-7621-CF44-7BECD5683173}"/>
              </a:ext>
            </a:extLst>
          </p:cNvPr>
          <p:cNvPicPr>
            <a:picLocks noChangeAspect="1"/>
          </p:cNvPicPr>
          <p:nvPr/>
        </p:nvPicPr>
        <p:blipFill>
          <a:blip r:embed="rId5"/>
          <a:stretch>
            <a:fillRect/>
          </a:stretch>
        </p:blipFill>
        <p:spPr>
          <a:xfrm>
            <a:off x="6566686" y="1476590"/>
            <a:ext cx="4772042" cy="3602424"/>
          </a:xfrm>
          <a:prstGeom prst="rect">
            <a:avLst/>
          </a:prstGeom>
        </p:spPr>
      </p:pic>
    </p:spTree>
    <p:extLst>
      <p:ext uri="{BB962C8B-B14F-4D97-AF65-F5344CB8AC3E}">
        <p14:creationId xmlns:p14="http://schemas.microsoft.com/office/powerpoint/2010/main" val="1196424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E4622-772B-209E-A573-D06043365BB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B2ED02A-DAC5-12F5-3BB7-A6BF2237E04C}"/>
              </a:ext>
            </a:extLst>
          </p:cNvPr>
          <p:cNvSpPr txBox="1">
            <a:spLocks noGrp="1"/>
          </p:cNvSpPr>
          <p:nvPr>
            <p:ph type="title"/>
          </p:nvPr>
        </p:nvSpPr>
        <p:spPr>
          <a:xfrm>
            <a:off x="685800" y="408883"/>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a:t>Learning outcome #1b – Notebook section 1. Technology – </a:t>
            </a:r>
            <a:r>
              <a:rPr lang="en-US" sz="2500">
                <a:solidFill>
                  <a:srgbClr val="FF0000"/>
                </a:solidFill>
              </a:rPr>
              <a:t>1 slide per component</a:t>
            </a:r>
            <a:br>
              <a:rPr lang="en-US" sz="2500"/>
            </a:br>
            <a:r>
              <a:rPr lang="en-US" sz="1800" b="0" i="1"/>
              <a:t>“Use your design results from Lab2 and Lab3 to create layout instances of your designed components: MMIs”</a:t>
            </a:r>
            <a:endParaRPr sz="2500" b="0" i="1">
              <a:latin typeface="+mj-lt"/>
              <a:cs typeface="Lucida Sans"/>
            </a:endParaRPr>
          </a:p>
        </p:txBody>
      </p:sp>
      <p:pic>
        <p:nvPicPr>
          <p:cNvPr id="83" name="Gráfico 82">
            <a:extLst>
              <a:ext uri="{FF2B5EF4-FFF2-40B4-BE49-F238E27FC236}">
                <a16:creationId xmlns:a16="http://schemas.microsoft.com/office/drawing/2014/main" id="{857BDF49-945E-F28D-D437-C141290F38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2510DA9-B212-28B9-D1AA-FF9161B75D1A}"/>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F11A3C78-B60C-47FD-3B91-4FED67343C09}"/>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421179DC-2D09-5CE5-FB01-48AD21F6D0FE}"/>
              </a:ext>
            </a:extLst>
          </p:cNvPr>
          <p:cNvSpPr txBox="1"/>
          <p:nvPr/>
        </p:nvSpPr>
        <p:spPr>
          <a:xfrm>
            <a:off x="609441" y="5305252"/>
            <a:ext cx="11199971" cy="46166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esta diapositiva se muestra el layout del MMI 2x2 diseñado en la práctica 2. Este componente está formado por una región multimodo rectangular de anchura 6.6μm y longitud 69.03598/2μm, conectada a cuatro guías de acceso de anchura 1.2μm.</a:t>
            </a:r>
          </a:p>
        </p:txBody>
      </p:sp>
      <p:sp>
        <p:nvSpPr>
          <p:cNvPr id="6" name="Rectángulo 5">
            <a:extLst>
              <a:ext uri="{FF2B5EF4-FFF2-40B4-BE49-F238E27FC236}">
                <a16:creationId xmlns:a16="http://schemas.microsoft.com/office/drawing/2014/main" id="{1D4567B4-7696-6922-F93A-DADF4D004FE6}"/>
              </a:ext>
            </a:extLst>
          </p:cNvPr>
          <p:cNvSpPr/>
          <p:nvPr/>
        </p:nvSpPr>
        <p:spPr>
          <a:xfrm>
            <a:off x="609441" y="1418372"/>
            <a:ext cx="5332571" cy="364266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C5A79356-4919-EAD2-7384-AF4BED67DD3C}"/>
              </a:ext>
            </a:extLst>
          </p:cNvPr>
          <p:cNvSpPr/>
          <p:nvPr/>
        </p:nvSpPr>
        <p:spPr>
          <a:xfrm>
            <a:off x="6096001" y="1420405"/>
            <a:ext cx="5713412" cy="364266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884B0313-B8F2-B11D-32B1-74E1E825D92A}"/>
              </a:ext>
            </a:extLst>
          </p:cNvPr>
          <p:cNvPicPr>
            <a:picLocks noChangeAspect="1"/>
          </p:cNvPicPr>
          <p:nvPr/>
        </p:nvPicPr>
        <p:blipFill>
          <a:blip r:embed="rId4"/>
          <a:stretch>
            <a:fillRect/>
          </a:stretch>
        </p:blipFill>
        <p:spPr>
          <a:xfrm>
            <a:off x="6601211" y="1460285"/>
            <a:ext cx="4702992" cy="3550298"/>
          </a:xfrm>
          <a:prstGeom prst="rect">
            <a:avLst/>
          </a:prstGeom>
        </p:spPr>
      </p:pic>
      <p:pic>
        <p:nvPicPr>
          <p:cNvPr id="11" name="Imagen 10">
            <a:extLst>
              <a:ext uri="{FF2B5EF4-FFF2-40B4-BE49-F238E27FC236}">
                <a16:creationId xmlns:a16="http://schemas.microsoft.com/office/drawing/2014/main" id="{899DA192-DB8A-7C4F-D7C5-F426842D74BB}"/>
              </a:ext>
            </a:extLst>
          </p:cNvPr>
          <p:cNvPicPr>
            <a:picLocks noChangeAspect="1"/>
          </p:cNvPicPr>
          <p:nvPr/>
        </p:nvPicPr>
        <p:blipFill>
          <a:blip r:embed="rId5"/>
          <a:stretch>
            <a:fillRect/>
          </a:stretch>
        </p:blipFill>
        <p:spPr>
          <a:xfrm>
            <a:off x="685800" y="1861789"/>
            <a:ext cx="5181600" cy="2747291"/>
          </a:xfrm>
          <a:prstGeom prst="rect">
            <a:avLst/>
          </a:prstGeom>
        </p:spPr>
      </p:pic>
    </p:spTree>
    <p:extLst>
      <p:ext uri="{BB962C8B-B14F-4D97-AF65-F5344CB8AC3E}">
        <p14:creationId xmlns:p14="http://schemas.microsoft.com/office/powerpoint/2010/main" val="2916769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C5C85-1CF9-A2D8-9528-E842E113BD0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735ED03-4901-3665-8B13-576E276B1C2E}"/>
              </a:ext>
            </a:extLst>
          </p:cNvPr>
          <p:cNvSpPr txBox="1">
            <a:spLocks noGrp="1"/>
          </p:cNvSpPr>
          <p:nvPr>
            <p:ph type="title"/>
          </p:nvPr>
        </p:nvSpPr>
        <p:spPr>
          <a:xfrm>
            <a:off x="685800" y="408883"/>
            <a:ext cx="10994410" cy="674544"/>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MZIs”</a:t>
            </a:r>
            <a:endParaRPr sz="2500" b="0" i="1" dirty="0">
              <a:latin typeface="+mj-lt"/>
              <a:cs typeface="Lucida Sans"/>
            </a:endParaRPr>
          </a:p>
        </p:txBody>
      </p:sp>
      <p:pic>
        <p:nvPicPr>
          <p:cNvPr id="83" name="Gráfico 82">
            <a:extLst>
              <a:ext uri="{FF2B5EF4-FFF2-40B4-BE49-F238E27FC236}">
                <a16:creationId xmlns:a16="http://schemas.microsoft.com/office/drawing/2014/main" id="{06D7F981-98D1-C3A1-E041-E951F0117A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6CE6A85-EA26-7EA7-1ACE-5F240E8D2727}"/>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F5554B-0C2A-E23E-E850-5BADD6686644}"/>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F6984AAF-EAEB-D000-E5C0-0E2CD07CBC6D}"/>
              </a:ext>
            </a:extLst>
          </p:cNvPr>
          <p:cNvSpPr txBox="1"/>
          <p:nvPr/>
        </p:nvSpPr>
        <p:spPr>
          <a:xfrm>
            <a:off x="609442" y="5518404"/>
            <a:ext cx="11199971" cy="46166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esta diapositiva se muestra el layout del interferómetro Mach-Zehnder que diseñamos en la práctica 3, este se ha construido utilizando dos </a:t>
            </a:r>
            <a:r>
              <a:rPr lang="es-ES" sz="1200" dirty="0" err="1">
                <a:latin typeface="Arial" panose="020B0604020202020204" pitchFamily="34" charset="0"/>
                <a:cs typeface="Arial" panose="020B0604020202020204" pitchFamily="34" charset="0"/>
              </a:rPr>
              <a:t>MMIs</a:t>
            </a:r>
            <a:r>
              <a:rPr lang="es-ES" sz="1200" dirty="0">
                <a:latin typeface="Arial" panose="020B0604020202020204" pitchFamily="34" charset="0"/>
                <a:cs typeface="Arial" panose="020B0604020202020204" pitchFamily="34" charset="0"/>
              </a:rPr>
              <a:t>, diseñados anteriormente, ambos </a:t>
            </a:r>
            <a:r>
              <a:rPr lang="es-ES" sz="1200" dirty="0" err="1">
                <a:latin typeface="Arial" panose="020B0604020202020204" pitchFamily="34" charset="0"/>
                <a:cs typeface="Arial" panose="020B0604020202020204" pitchFamily="34" charset="0"/>
              </a:rPr>
              <a:t>MMIs</a:t>
            </a:r>
            <a:r>
              <a:rPr lang="es-ES" sz="1200" dirty="0">
                <a:latin typeface="Arial" panose="020B0604020202020204" pitchFamily="34" charset="0"/>
                <a:cs typeface="Arial" panose="020B0604020202020204" pitchFamily="34" charset="0"/>
              </a:rPr>
              <a:t> se encuentran conectados mediante dos guías paralelas que actúan como los brazos del interferómetro.</a:t>
            </a:r>
          </a:p>
        </p:txBody>
      </p:sp>
      <p:sp>
        <p:nvSpPr>
          <p:cNvPr id="6" name="Rectángulo 5">
            <a:extLst>
              <a:ext uri="{FF2B5EF4-FFF2-40B4-BE49-F238E27FC236}">
                <a16:creationId xmlns:a16="http://schemas.microsoft.com/office/drawing/2014/main" id="{BA524CE6-BD28-754B-0B16-725FE8AB3F89}"/>
              </a:ext>
            </a:extLst>
          </p:cNvPr>
          <p:cNvSpPr/>
          <p:nvPr/>
        </p:nvSpPr>
        <p:spPr>
          <a:xfrm>
            <a:off x="609441" y="1418373"/>
            <a:ext cx="5332571" cy="374389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889E5D9A-E535-C790-8BE8-682CB5BDB5A4}"/>
              </a:ext>
            </a:extLst>
          </p:cNvPr>
          <p:cNvSpPr/>
          <p:nvPr/>
        </p:nvSpPr>
        <p:spPr>
          <a:xfrm>
            <a:off x="6096001" y="1420406"/>
            <a:ext cx="5713412" cy="374389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0CC9055F-E9B2-7A03-54FA-2EE7DB0E8EFF}"/>
              </a:ext>
            </a:extLst>
          </p:cNvPr>
          <p:cNvPicPr>
            <a:picLocks noChangeAspect="1"/>
          </p:cNvPicPr>
          <p:nvPr/>
        </p:nvPicPr>
        <p:blipFill>
          <a:blip r:embed="rId4"/>
          <a:stretch>
            <a:fillRect/>
          </a:stretch>
        </p:blipFill>
        <p:spPr>
          <a:xfrm>
            <a:off x="695801" y="2805959"/>
            <a:ext cx="5159849" cy="961547"/>
          </a:xfrm>
          <a:prstGeom prst="rect">
            <a:avLst/>
          </a:prstGeom>
        </p:spPr>
      </p:pic>
      <p:pic>
        <p:nvPicPr>
          <p:cNvPr id="10" name="Imagen 9">
            <a:extLst>
              <a:ext uri="{FF2B5EF4-FFF2-40B4-BE49-F238E27FC236}">
                <a16:creationId xmlns:a16="http://schemas.microsoft.com/office/drawing/2014/main" id="{6E6EC7D9-C3AA-0B7D-B73E-E0B761799C1F}"/>
              </a:ext>
            </a:extLst>
          </p:cNvPr>
          <p:cNvPicPr>
            <a:picLocks noChangeAspect="1"/>
          </p:cNvPicPr>
          <p:nvPr/>
        </p:nvPicPr>
        <p:blipFill>
          <a:blip r:embed="rId5"/>
          <a:stretch>
            <a:fillRect/>
          </a:stretch>
        </p:blipFill>
        <p:spPr>
          <a:xfrm>
            <a:off x="6536614" y="1462818"/>
            <a:ext cx="4832186" cy="3647827"/>
          </a:xfrm>
          <a:prstGeom prst="rect">
            <a:avLst/>
          </a:prstGeom>
        </p:spPr>
      </p:pic>
    </p:spTree>
    <p:extLst>
      <p:ext uri="{BB962C8B-B14F-4D97-AF65-F5344CB8AC3E}">
        <p14:creationId xmlns:p14="http://schemas.microsoft.com/office/powerpoint/2010/main" val="2420863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7B82A-0273-2863-AE19-2C957BD92B0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3B474FE-9B44-C69D-C951-681B7C2F8A1A}"/>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112AC932-0B07-C3DF-59FF-FBE49FA127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92E97D9-2780-D50F-F56D-D38889BBFB7C}"/>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E2639684-ACCB-1A15-E350-18962CF924EA}"/>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20FC8956-B282-8F52-8574-2D270B5B3BB2}"/>
              </a:ext>
            </a:extLst>
          </p:cNvPr>
          <p:cNvSpPr txBox="1"/>
          <p:nvPr/>
        </p:nvSpPr>
        <p:spPr>
          <a:xfrm>
            <a:off x="609442" y="5507095"/>
            <a:ext cx="11199971" cy="461665"/>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En esta diapositiva se muestra el layout de un RR que diseñamos en la práctica 3, este componente está formado por una guía cerrada con curvas suaves y una región de acoplo basada en un MMI (diseñado anteriormente).</a:t>
            </a:r>
          </a:p>
        </p:txBody>
      </p:sp>
      <p:sp>
        <p:nvSpPr>
          <p:cNvPr id="6" name="Rectángulo 5">
            <a:extLst>
              <a:ext uri="{FF2B5EF4-FFF2-40B4-BE49-F238E27FC236}">
                <a16:creationId xmlns:a16="http://schemas.microsoft.com/office/drawing/2014/main" id="{33E11CF9-1CF9-3243-8EE1-7DA490DA110F}"/>
              </a:ext>
            </a:extLst>
          </p:cNvPr>
          <p:cNvSpPr/>
          <p:nvPr/>
        </p:nvSpPr>
        <p:spPr>
          <a:xfrm>
            <a:off x="609441" y="1418372"/>
            <a:ext cx="5486559" cy="374795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51B6EBB7-C2D8-DD5D-7591-AA7F8173B301}"/>
              </a:ext>
            </a:extLst>
          </p:cNvPr>
          <p:cNvSpPr/>
          <p:nvPr/>
        </p:nvSpPr>
        <p:spPr>
          <a:xfrm>
            <a:off x="6249991" y="1420406"/>
            <a:ext cx="5559422" cy="374795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D17FDD4-C41F-FA84-459D-F857C0588FA9}"/>
              </a:ext>
            </a:extLst>
          </p:cNvPr>
          <p:cNvPicPr>
            <a:picLocks noChangeAspect="1"/>
          </p:cNvPicPr>
          <p:nvPr/>
        </p:nvPicPr>
        <p:blipFill>
          <a:blip r:embed="rId4"/>
          <a:stretch>
            <a:fillRect/>
          </a:stretch>
        </p:blipFill>
        <p:spPr>
          <a:xfrm>
            <a:off x="6610985" y="1466456"/>
            <a:ext cx="4837433" cy="3651788"/>
          </a:xfrm>
          <a:prstGeom prst="rect">
            <a:avLst/>
          </a:prstGeom>
        </p:spPr>
      </p:pic>
      <p:pic>
        <p:nvPicPr>
          <p:cNvPr id="11" name="Imagen 10">
            <a:extLst>
              <a:ext uri="{FF2B5EF4-FFF2-40B4-BE49-F238E27FC236}">
                <a16:creationId xmlns:a16="http://schemas.microsoft.com/office/drawing/2014/main" id="{7C8715D0-C257-03E1-FC3E-5454E033BC71}"/>
              </a:ext>
            </a:extLst>
          </p:cNvPr>
          <p:cNvPicPr>
            <a:picLocks noChangeAspect="1"/>
          </p:cNvPicPr>
          <p:nvPr/>
        </p:nvPicPr>
        <p:blipFill>
          <a:blip r:embed="rId5"/>
          <a:stretch>
            <a:fillRect/>
          </a:stretch>
        </p:blipFill>
        <p:spPr>
          <a:xfrm>
            <a:off x="672511" y="2052749"/>
            <a:ext cx="5360418" cy="2483272"/>
          </a:xfrm>
          <a:prstGeom prst="rect">
            <a:avLst/>
          </a:prstGeom>
        </p:spPr>
      </p:pic>
    </p:spTree>
    <p:extLst>
      <p:ext uri="{BB962C8B-B14F-4D97-AF65-F5344CB8AC3E}">
        <p14:creationId xmlns:p14="http://schemas.microsoft.com/office/powerpoint/2010/main" val="3307985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35C0B36B-B4BD-C242-E1BB-26DD7AC56DB0}"/>
              </a:ext>
            </a:extLst>
          </p:cNvPr>
          <p:cNvSpPr txBox="1"/>
          <p:nvPr/>
        </p:nvSpPr>
        <p:spPr>
          <a:xfrm>
            <a:off x="609441" y="5437594"/>
            <a:ext cx="11199971" cy="461665"/>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En este apartado se convierte un componente de layout en una celda reutilizable mediante @gf.cell. En concreto, se define una celda de </a:t>
            </a:r>
            <a:r>
              <a:rPr lang="es-ES" sz="1200" i="1" dirty="0">
                <a:latin typeface="Arial" panose="020B0604020202020204" pitchFamily="34" charset="0"/>
                <a:cs typeface="Arial" panose="020B0604020202020204" pitchFamily="34" charset="0"/>
              </a:rPr>
              <a:t>die</a:t>
            </a:r>
            <a:r>
              <a:rPr lang="es-ES" sz="1200" dirty="0">
                <a:latin typeface="Arial" panose="020B0604020202020204" pitchFamily="34" charset="0"/>
                <a:cs typeface="Arial" panose="020B0604020202020204" pitchFamily="34" charset="0"/>
              </a:rPr>
              <a:t> o chip, formada por un rectángulo.</a:t>
            </a:r>
          </a:p>
        </p:txBody>
      </p:sp>
      <p:sp>
        <p:nvSpPr>
          <p:cNvPr id="6" name="Rectángulo 5">
            <a:extLst>
              <a:ext uri="{FF2B5EF4-FFF2-40B4-BE49-F238E27FC236}">
                <a16:creationId xmlns:a16="http://schemas.microsoft.com/office/drawing/2014/main" id="{399364F4-A34A-5161-07CB-E12F9FFCB400}"/>
              </a:ext>
            </a:extLst>
          </p:cNvPr>
          <p:cNvSpPr/>
          <p:nvPr/>
        </p:nvSpPr>
        <p:spPr>
          <a:xfrm>
            <a:off x="609441" y="1418373"/>
            <a:ext cx="5486559" cy="382892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4DFC788C-53E2-83E7-3D9E-EBD582171C71}"/>
              </a:ext>
            </a:extLst>
          </p:cNvPr>
          <p:cNvSpPr/>
          <p:nvPr/>
        </p:nvSpPr>
        <p:spPr>
          <a:xfrm>
            <a:off x="6249990" y="1418373"/>
            <a:ext cx="5559422" cy="38289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E5BFC543-CCB0-A95B-CF83-2B5F94A04D83}"/>
              </a:ext>
            </a:extLst>
          </p:cNvPr>
          <p:cNvPicPr>
            <a:picLocks noChangeAspect="1"/>
          </p:cNvPicPr>
          <p:nvPr/>
        </p:nvPicPr>
        <p:blipFill>
          <a:blip r:embed="rId4"/>
          <a:stretch>
            <a:fillRect/>
          </a:stretch>
        </p:blipFill>
        <p:spPr>
          <a:xfrm>
            <a:off x="690744" y="2377278"/>
            <a:ext cx="5324112" cy="2103443"/>
          </a:xfrm>
          <a:prstGeom prst="rect">
            <a:avLst/>
          </a:prstGeom>
        </p:spPr>
      </p:pic>
      <p:pic>
        <p:nvPicPr>
          <p:cNvPr id="7" name="Imagen 6">
            <a:extLst>
              <a:ext uri="{FF2B5EF4-FFF2-40B4-BE49-F238E27FC236}">
                <a16:creationId xmlns:a16="http://schemas.microsoft.com/office/drawing/2014/main" id="{62BB7FC1-171F-A374-CE0D-29C3F58F4F92}"/>
              </a:ext>
            </a:extLst>
          </p:cNvPr>
          <p:cNvPicPr>
            <a:picLocks noChangeAspect="1"/>
          </p:cNvPicPr>
          <p:nvPr/>
        </p:nvPicPr>
        <p:blipFill>
          <a:blip r:embed="rId5"/>
          <a:stretch>
            <a:fillRect/>
          </a:stretch>
        </p:blipFill>
        <p:spPr>
          <a:xfrm>
            <a:off x="6519846" y="1476180"/>
            <a:ext cx="4918931" cy="3713311"/>
          </a:xfrm>
          <a:prstGeom prst="rect">
            <a:avLst/>
          </a:prstGeom>
        </p:spPr>
      </p:pic>
    </p:spTree>
    <p:extLst>
      <p:ext uri="{BB962C8B-B14F-4D97-AF65-F5344CB8AC3E}">
        <p14:creationId xmlns:p14="http://schemas.microsoft.com/office/powerpoint/2010/main" val="1203241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597599"/>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#2b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DCs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D8C2352E-973A-F389-F6A1-D644E07F2E7E}"/>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BAAAC818-8C43-CF5D-4DB7-21D1E6A0DEED}"/>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BA42D30D-4D6E-5025-60D5-E6CC347C1CFC}"/>
              </a:ext>
            </a:extLst>
          </p:cNvPr>
          <p:cNvPicPr>
            <a:picLocks noChangeAspect="1"/>
          </p:cNvPicPr>
          <p:nvPr/>
        </p:nvPicPr>
        <p:blipFill>
          <a:blip r:embed="rId4"/>
          <a:stretch>
            <a:fillRect/>
          </a:stretch>
        </p:blipFill>
        <p:spPr>
          <a:xfrm>
            <a:off x="6629045" y="1896386"/>
            <a:ext cx="5028161" cy="3795768"/>
          </a:xfrm>
          <a:prstGeom prst="rect">
            <a:avLst/>
          </a:prstGeom>
        </p:spPr>
      </p:pic>
      <p:pic>
        <p:nvPicPr>
          <p:cNvPr id="10" name="Imagen 9">
            <a:extLst>
              <a:ext uri="{FF2B5EF4-FFF2-40B4-BE49-F238E27FC236}">
                <a16:creationId xmlns:a16="http://schemas.microsoft.com/office/drawing/2014/main" id="{B5D71EB6-7845-5F87-11E5-3B1E121F573E}"/>
              </a:ext>
            </a:extLst>
          </p:cNvPr>
          <p:cNvPicPr>
            <a:picLocks noChangeAspect="1"/>
          </p:cNvPicPr>
          <p:nvPr/>
        </p:nvPicPr>
        <p:blipFill>
          <a:blip r:embed="rId5"/>
          <a:srcRect t="8477"/>
          <a:stretch>
            <a:fillRect/>
          </a:stretch>
        </p:blipFill>
        <p:spPr>
          <a:xfrm>
            <a:off x="808412" y="2012064"/>
            <a:ext cx="4934627" cy="3564411"/>
          </a:xfrm>
          <a:prstGeom prst="rect">
            <a:avLst/>
          </a:prstGeom>
        </p:spPr>
      </p:pic>
    </p:spTree>
    <p:extLst>
      <p:ext uri="{BB962C8B-B14F-4D97-AF65-F5344CB8AC3E}">
        <p14:creationId xmlns:p14="http://schemas.microsoft.com/office/powerpoint/2010/main" val="1504002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57520-2EA7-9F13-82A8-F8658F4B365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219F132-E5A1-F0DA-1289-3DEB953A4EA0}"/>
              </a:ext>
            </a:extLst>
          </p:cNvPr>
          <p:cNvSpPr txBox="1">
            <a:spLocks noGrp="1"/>
          </p:cNvSpPr>
          <p:nvPr>
            <p:ph type="title"/>
          </p:nvPr>
        </p:nvSpPr>
        <p:spPr>
          <a:xfrm>
            <a:off x="685800" y="408883"/>
            <a:ext cx="10994410" cy="597599"/>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#2b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MMIs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F47CE9F0-8B6C-E948-B0EB-9EC5C458BE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A4E9B-4A95-C69E-822C-BDA3365AE6AC}"/>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9B0E8461-C7F7-7CD3-0ECC-CC8ED6DB2AC3}"/>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20D76A0A-69B9-9FF3-D229-CE0DCA8CAF11}"/>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40E211DD-5ED8-BCD1-B6D1-BC9ECB794A92}"/>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Imagen 11">
            <a:extLst>
              <a:ext uri="{FF2B5EF4-FFF2-40B4-BE49-F238E27FC236}">
                <a16:creationId xmlns:a16="http://schemas.microsoft.com/office/drawing/2014/main" id="{EA2C16C7-0299-4420-FC5F-3A6E935AE697}"/>
              </a:ext>
            </a:extLst>
          </p:cNvPr>
          <p:cNvPicPr>
            <a:picLocks noChangeAspect="1"/>
          </p:cNvPicPr>
          <p:nvPr/>
        </p:nvPicPr>
        <p:blipFill>
          <a:blip r:embed="rId4"/>
          <a:stretch>
            <a:fillRect/>
          </a:stretch>
        </p:blipFill>
        <p:spPr>
          <a:xfrm>
            <a:off x="6574097" y="1854905"/>
            <a:ext cx="5138057" cy="3878729"/>
          </a:xfrm>
          <a:prstGeom prst="rect">
            <a:avLst/>
          </a:prstGeom>
        </p:spPr>
      </p:pic>
      <p:pic>
        <p:nvPicPr>
          <p:cNvPr id="14" name="Imagen 13">
            <a:extLst>
              <a:ext uri="{FF2B5EF4-FFF2-40B4-BE49-F238E27FC236}">
                <a16:creationId xmlns:a16="http://schemas.microsoft.com/office/drawing/2014/main" id="{28576752-70D0-1974-2276-DE22A84AFB97}"/>
              </a:ext>
            </a:extLst>
          </p:cNvPr>
          <p:cNvPicPr>
            <a:picLocks noChangeAspect="1"/>
          </p:cNvPicPr>
          <p:nvPr/>
        </p:nvPicPr>
        <p:blipFill>
          <a:blip r:embed="rId5"/>
          <a:stretch>
            <a:fillRect/>
          </a:stretch>
        </p:blipFill>
        <p:spPr>
          <a:xfrm>
            <a:off x="759352" y="2345938"/>
            <a:ext cx="5032748" cy="2896662"/>
          </a:xfrm>
          <a:prstGeom prst="rect">
            <a:avLst/>
          </a:prstGeom>
        </p:spPr>
      </p:pic>
    </p:spTree>
    <p:extLst>
      <p:ext uri="{BB962C8B-B14F-4D97-AF65-F5344CB8AC3E}">
        <p14:creationId xmlns:p14="http://schemas.microsoft.com/office/powerpoint/2010/main" val="472375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37520-60FA-A091-4EE9-23093DB5F39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3084A2F-1081-F563-F774-9C6A41B789B7}"/>
              </a:ext>
            </a:extLst>
          </p:cNvPr>
          <p:cNvSpPr txBox="1">
            <a:spLocks noGrp="1"/>
          </p:cNvSpPr>
          <p:nvPr>
            <p:ph type="title"/>
          </p:nvPr>
        </p:nvSpPr>
        <p:spPr>
          <a:xfrm>
            <a:off x="685800" y="408883"/>
            <a:ext cx="10994410" cy="597599"/>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#2b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MZIs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2615665D-8D5E-EDAC-FA5E-6B94A835AE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9E4E01-C795-469B-3D7A-695BCF8F1CA2}"/>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E215524B-5C93-AEFA-3AB5-ABE43DED24A1}"/>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B68E816B-3912-DFB5-6C9B-5DAB32264B0F}"/>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2939BCE3-9B09-9F93-FC27-F01D0159DEBB}"/>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F07AD9AE-B187-219F-D918-611A63728A35}"/>
              </a:ext>
            </a:extLst>
          </p:cNvPr>
          <p:cNvPicPr>
            <a:picLocks noChangeAspect="1"/>
          </p:cNvPicPr>
          <p:nvPr/>
        </p:nvPicPr>
        <p:blipFill>
          <a:blip r:embed="rId4"/>
          <a:stretch>
            <a:fillRect/>
          </a:stretch>
        </p:blipFill>
        <p:spPr>
          <a:xfrm>
            <a:off x="6527691" y="1819873"/>
            <a:ext cx="5230870" cy="3948794"/>
          </a:xfrm>
          <a:prstGeom prst="rect">
            <a:avLst/>
          </a:prstGeom>
        </p:spPr>
      </p:pic>
      <p:pic>
        <p:nvPicPr>
          <p:cNvPr id="10" name="Imagen 9">
            <a:extLst>
              <a:ext uri="{FF2B5EF4-FFF2-40B4-BE49-F238E27FC236}">
                <a16:creationId xmlns:a16="http://schemas.microsoft.com/office/drawing/2014/main" id="{A5022662-710F-0FF1-46F6-006DFB055E29}"/>
              </a:ext>
            </a:extLst>
          </p:cNvPr>
          <p:cNvPicPr>
            <a:picLocks noChangeAspect="1"/>
          </p:cNvPicPr>
          <p:nvPr/>
        </p:nvPicPr>
        <p:blipFill>
          <a:blip r:embed="rId5"/>
          <a:stretch>
            <a:fillRect/>
          </a:stretch>
        </p:blipFill>
        <p:spPr>
          <a:xfrm>
            <a:off x="673809" y="2193758"/>
            <a:ext cx="5203833" cy="3245869"/>
          </a:xfrm>
          <a:prstGeom prst="rect">
            <a:avLst/>
          </a:prstGeom>
        </p:spPr>
      </p:pic>
    </p:spTree>
    <p:extLst>
      <p:ext uri="{BB962C8B-B14F-4D97-AF65-F5344CB8AC3E}">
        <p14:creationId xmlns:p14="http://schemas.microsoft.com/office/powerpoint/2010/main" val="1047263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16E75-91EB-CA14-D540-C28D68AAD3B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4A9132-F616-EB3A-E185-3F1849E7C518}"/>
              </a:ext>
            </a:extLst>
          </p:cNvPr>
          <p:cNvSpPr txBox="1">
            <a:spLocks noGrp="1"/>
          </p:cNvSpPr>
          <p:nvPr>
            <p:ph type="title"/>
          </p:nvPr>
        </p:nvSpPr>
        <p:spPr>
          <a:xfrm>
            <a:off x="685800" y="408883"/>
            <a:ext cx="10994410" cy="597599"/>
          </a:xfrm>
          <a:prstGeom prst="rect">
            <a:avLst/>
          </a:prstGeom>
        </p:spPr>
        <p:txBody>
          <a:bodyPr vert="horz" wrap="square" lIns="0" tIns="12700" rIns="0" bIns="0" rtlCol="0">
            <a:spAutoFit/>
          </a:bodyPr>
          <a:lstStyle/>
          <a:p>
            <a:pPr marL="12700" algn="just">
              <a:lnSpc>
                <a:spcPct val="100000"/>
              </a:lnSpc>
              <a:spcBef>
                <a:spcPts val="100"/>
              </a:spcBef>
            </a:pPr>
            <a:r>
              <a:rPr lang="en-US"/>
              <a:t>Learning outcome #2b – Notebook section 2. Layout Fundamentals – </a:t>
            </a:r>
            <a:r>
              <a:rPr lang="en-US">
                <a:solidFill>
                  <a:srgbClr val="FF0000"/>
                </a:solidFill>
              </a:rPr>
              <a:t>1 slide per component</a:t>
            </a:r>
            <a:br>
              <a:rPr lang="en-US" sz="2500"/>
            </a:br>
            <a:r>
              <a:rPr lang="en-US" sz="1800" b="0" i="1"/>
              <a:t>“Use your design results from Lab2 and Lab3 to create layout instances of your designed components: Ring Resonators</a:t>
            </a:r>
            <a:endParaRPr sz="2500" b="0" i="1">
              <a:solidFill>
                <a:srgbClr val="FF0000"/>
              </a:solidFill>
              <a:latin typeface="+mj-lt"/>
              <a:cs typeface="Lucida Sans"/>
            </a:endParaRPr>
          </a:p>
        </p:txBody>
      </p:sp>
      <p:pic>
        <p:nvPicPr>
          <p:cNvPr id="83" name="Gráfico 82">
            <a:extLst>
              <a:ext uri="{FF2B5EF4-FFF2-40B4-BE49-F238E27FC236}">
                <a16:creationId xmlns:a16="http://schemas.microsoft.com/office/drawing/2014/main" id="{35A202E3-C8F2-02D5-BF1A-4681C93E14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D3A24B2-B6BD-6AFF-03BB-B22468D0AE5E}"/>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D82FC51E-1CE3-2228-B97A-BD3683949CFB}"/>
              </a:ext>
            </a:extLst>
          </p:cNvPr>
          <p:cNvSpPr>
            <a:spLocks noGrp="1"/>
          </p:cNvSpPr>
          <p:nvPr>
            <p:ph type="ftr" sz="quarter" idx="5"/>
          </p:nvPr>
        </p:nvSpPr>
        <p:spPr/>
        <p:txBody>
          <a:bodyPr/>
          <a:lstStyle/>
          <a:p>
            <a:pPr marL="12700">
              <a:spcBef>
                <a:spcPts val="15"/>
              </a:spcBef>
            </a:pPr>
            <a:r>
              <a:rPr lang="es-ES" spc="-5"/>
              <a:t>LAB 4.0. LAYOUT</a:t>
            </a:r>
          </a:p>
        </p:txBody>
      </p:sp>
      <p:sp>
        <p:nvSpPr>
          <p:cNvPr id="6" name="Rectángulo 5">
            <a:extLst>
              <a:ext uri="{FF2B5EF4-FFF2-40B4-BE49-F238E27FC236}">
                <a16:creationId xmlns:a16="http://schemas.microsoft.com/office/drawing/2014/main" id="{CB7D7616-E8A4-F1AD-EF64-500DFC4E8792}"/>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77277BB6-D6B4-11CF-FA51-6273EDEA6FDE}"/>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82A64632-C85B-B59A-D7C2-DB9041279A06}"/>
              </a:ext>
            </a:extLst>
          </p:cNvPr>
          <p:cNvPicPr>
            <a:picLocks noChangeAspect="1"/>
          </p:cNvPicPr>
          <p:nvPr/>
        </p:nvPicPr>
        <p:blipFill>
          <a:blip r:embed="rId4"/>
          <a:stretch>
            <a:fillRect/>
          </a:stretch>
        </p:blipFill>
        <p:spPr>
          <a:xfrm>
            <a:off x="6561714" y="1845557"/>
            <a:ext cx="5162824" cy="3897426"/>
          </a:xfrm>
          <a:prstGeom prst="rect">
            <a:avLst/>
          </a:prstGeom>
        </p:spPr>
      </p:pic>
      <p:pic>
        <p:nvPicPr>
          <p:cNvPr id="10" name="Imagen 9">
            <a:extLst>
              <a:ext uri="{FF2B5EF4-FFF2-40B4-BE49-F238E27FC236}">
                <a16:creationId xmlns:a16="http://schemas.microsoft.com/office/drawing/2014/main" id="{312855F7-FF57-D3EE-70E3-68B5695F048D}"/>
              </a:ext>
            </a:extLst>
          </p:cNvPr>
          <p:cNvPicPr>
            <a:picLocks noChangeAspect="1"/>
          </p:cNvPicPr>
          <p:nvPr/>
        </p:nvPicPr>
        <p:blipFill>
          <a:blip r:embed="rId5"/>
          <a:stretch>
            <a:fillRect/>
          </a:stretch>
        </p:blipFill>
        <p:spPr>
          <a:xfrm>
            <a:off x="705610" y="2267763"/>
            <a:ext cx="5140231" cy="3053014"/>
          </a:xfrm>
          <a:prstGeom prst="rect">
            <a:avLst/>
          </a:prstGeom>
        </p:spPr>
      </p:pic>
    </p:spTree>
    <p:extLst>
      <p:ext uri="{BB962C8B-B14F-4D97-AF65-F5344CB8AC3E}">
        <p14:creationId xmlns:p14="http://schemas.microsoft.com/office/powerpoint/2010/main" val="3993405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463A-FEB0-DAC2-C592-982AED782F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D9825A0-3864-7B82-F4C0-6912BF1AE35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#3 – Notebook section 3. Complete layout</a:t>
            </a:r>
            <a:endParaRPr sz="2500" b="0" i="1">
              <a:latin typeface="+mj-lt"/>
              <a:cs typeface="Lucida Sans"/>
            </a:endParaRPr>
          </a:p>
        </p:txBody>
      </p:sp>
      <p:pic>
        <p:nvPicPr>
          <p:cNvPr id="83" name="Gráfico 82">
            <a:extLst>
              <a:ext uri="{FF2B5EF4-FFF2-40B4-BE49-F238E27FC236}">
                <a16:creationId xmlns:a16="http://schemas.microsoft.com/office/drawing/2014/main" id="{0DEB6AD1-A7A1-CBBC-33E2-C1A03F2E3E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F7002D-478B-4959-3169-5E518898EBC4}"/>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C305F97E-3B7E-8203-F806-FFA5E41962D7}"/>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58187553-D412-F56C-DD26-11B2C97C2B31}"/>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En este primer bloque se crea el componente principal del </a:t>
            </a:r>
            <a:r>
              <a:rPr lang="es-ES" sz="1200" err="1">
                <a:latin typeface="Arial" panose="020B0604020202020204" pitchFamily="34" charset="0"/>
                <a:cs typeface="Arial" panose="020B0604020202020204" pitchFamily="34" charset="0"/>
              </a:rPr>
              <a:t>layout</a:t>
            </a:r>
            <a:r>
              <a:rPr lang="es-ES" sz="1200">
                <a:latin typeface="Arial" panose="020B0604020202020204" pitchFamily="34" charset="0"/>
                <a:cs typeface="Arial" panose="020B0604020202020204" pitchFamily="34" charset="0"/>
              </a:rPr>
              <a:t> y se añade el contorno del chip mediante la celda die. Después se instancia un MMI 1x2 dentro del área útil del chip y se añaden guías rectas de entrada y salida en los bordes del die. Finalmente, se conectan los puertos del MMI con las guías de acceso mediante rutas tipo S-</a:t>
            </a:r>
            <a:r>
              <a:rPr lang="es-ES" sz="1200" err="1">
                <a:latin typeface="Arial" panose="020B0604020202020204" pitchFamily="34" charset="0"/>
                <a:cs typeface="Arial" panose="020B0604020202020204" pitchFamily="34" charset="0"/>
              </a:rPr>
              <a:t>bend</a:t>
            </a:r>
            <a:r>
              <a:rPr lang="es-ES" sz="1200">
                <a:latin typeface="Arial" panose="020B0604020202020204" pitchFamily="34" charset="0"/>
                <a:cs typeface="Arial" panose="020B0604020202020204" pitchFamily="34" charset="0"/>
              </a:rPr>
              <a:t>. Este bloque sirve como primera prueba de integración de un componente dentro del chip.</a:t>
            </a:r>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F4B67F4D-126C-4796-4E73-E68F0F3CB6B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F3993F20-03FE-F760-86DC-9F8DCB5C7EA1}"/>
              </a:ext>
            </a:extLst>
          </p:cNvPr>
          <p:cNvPicPr>
            <a:picLocks noChangeAspect="1"/>
          </p:cNvPicPr>
          <p:nvPr/>
        </p:nvPicPr>
        <p:blipFill>
          <a:blip r:embed="rId4"/>
          <a:stretch>
            <a:fillRect/>
          </a:stretch>
        </p:blipFill>
        <p:spPr>
          <a:xfrm>
            <a:off x="6394789" y="1563224"/>
            <a:ext cx="5346020" cy="4035721"/>
          </a:xfrm>
          <a:prstGeom prst="rect">
            <a:avLst/>
          </a:prstGeom>
        </p:spPr>
      </p:pic>
    </p:spTree>
    <p:extLst>
      <p:ext uri="{BB962C8B-B14F-4D97-AF65-F5344CB8AC3E}">
        <p14:creationId xmlns:p14="http://schemas.microsoft.com/office/powerpoint/2010/main" val="3190811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5BEF4-122D-26D4-68B3-6A89FA87DD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2EEA85A-BC7D-D701-B4B4-B3D9F1C94CA0}"/>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#3 – Notebook section 3. Complete layout</a:t>
            </a:r>
            <a:endParaRPr sz="2500" b="0" i="1">
              <a:latin typeface="+mj-lt"/>
              <a:cs typeface="Lucida Sans"/>
            </a:endParaRPr>
          </a:p>
        </p:txBody>
      </p:sp>
      <p:pic>
        <p:nvPicPr>
          <p:cNvPr id="83" name="Gráfico 82">
            <a:extLst>
              <a:ext uri="{FF2B5EF4-FFF2-40B4-BE49-F238E27FC236}">
                <a16:creationId xmlns:a16="http://schemas.microsoft.com/office/drawing/2014/main" id="{E2210561-FF92-E625-7D65-7D016F3AE3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EB97BBB-A88F-3EE8-FBBA-0293897377CF}"/>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94AADDEE-95E4-FE71-36E9-78EDEAA049AC}"/>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6A9BE1A9-D3C4-0E67-2F94-5DBB7FB953AE}"/>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r>
              <a:rPr lang="es-ES" sz="1200"/>
              <a:t>En este bloque se genera una primera estructura de división óptica basada en un MMI 1x2. La señal de entrada se divide en dos ramas de salida mediante rutas tipo S-</a:t>
            </a:r>
            <a:r>
              <a:rPr lang="es-ES" sz="1200" err="1"/>
              <a:t>bend</a:t>
            </a:r>
            <a:r>
              <a:rPr lang="es-ES" sz="1200"/>
              <a:t>, separando espacialmente ambas guías para facilitar su conexión posterior con otros componentes o con los accesos del chip.</a:t>
            </a:r>
          </a:p>
          <a:p>
            <a:r>
              <a:rPr lang="es-ES" sz="1200"/>
              <a:t>Este bloque permite comprobar el funcionamiento del divisor antes de integrarlo en una estructura jerárquica más compleja.</a:t>
            </a:r>
          </a:p>
          <a:p>
            <a:pPr algn="just"/>
            <a:endParaRPr lang="es-E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12CC8B80-D678-33F6-D12B-998327171A8C}"/>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237A6A0E-8B85-77E8-9BD4-863AF661D4C6}"/>
              </a:ext>
            </a:extLst>
          </p:cNvPr>
          <p:cNvPicPr>
            <a:picLocks noChangeAspect="1"/>
          </p:cNvPicPr>
          <p:nvPr/>
        </p:nvPicPr>
        <p:blipFill>
          <a:blip r:embed="rId4"/>
          <a:stretch>
            <a:fillRect/>
          </a:stretch>
        </p:blipFill>
        <p:spPr>
          <a:xfrm>
            <a:off x="6292921" y="1486324"/>
            <a:ext cx="5549756" cy="4189521"/>
          </a:xfrm>
          <a:prstGeom prst="rect">
            <a:avLst/>
          </a:prstGeom>
        </p:spPr>
      </p:pic>
    </p:spTree>
    <p:extLst>
      <p:ext uri="{BB962C8B-B14F-4D97-AF65-F5344CB8AC3E}">
        <p14:creationId xmlns:p14="http://schemas.microsoft.com/office/powerpoint/2010/main" val="3125222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FDFB6-7ABE-37B1-B4E1-E94A6266BC9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7CE9103-E89B-ADB0-8B77-5371B343087C}"/>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#3 – Notebook section 3. Complete layout</a:t>
            </a:r>
            <a:endParaRPr sz="2500" b="0" i="1">
              <a:latin typeface="+mj-lt"/>
              <a:cs typeface="Lucida Sans"/>
            </a:endParaRPr>
          </a:p>
        </p:txBody>
      </p:sp>
      <p:pic>
        <p:nvPicPr>
          <p:cNvPr id="83" name="Gráfico 82">
            <a:extLst>
              <a:ext uri="{FF2B5EF4-FFF2-40B4-BE49-F238E27FC236}">
                <a16:creationId xmlns:a16="http://schemas.microsoft.com/office/drawing/2014/main" id="{F24B2516-0D2C-86A7-767B-B5E804455E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CEC0E37-8F45-8E7E-71AE-3F2E6118BD62}"/>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2E158B70-42A7-B0A2-B353-26F1C90876FB}"/>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1CC4E041-46AA-8C9B-B90A-E45EC95D0CEE}"/>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En este bloque se convierte la estructura de división en una celda reutilizable mediante @gf.cell. La finalidad es poder instanciar el divisor dentro de diseños jerárquicos más complejos sin tener que repetir manualmente todo el código de creación y </a:t>
            </a:r>
            <a:r>
              <a:rPr lang="es-ES" sz="1200" err="1">
                <a:latin typeface="Arial" panose="020B0604020202020204" pitchFamily="34" charset="0"/>
                <a:cs typeface="Arial" panose="020B0604020202020204" pitchFamily="34" charset="0"/>
              </a:rPr>
              <a:t>routing</a:t>
            </a:r>
            <a:r>
              <a:rPr lang="es-ES" sz="1200">
                <a:latin typeface="Arial" panose="020B0604020202020204" pitchFamily="34" charset="0"/>
                <a:cs typeface="Arial" panose="020B0604020202020204" pitchFamily="34" charset="0"/>
              </a:rPr>
              <a:t>. La celda incluye puertos definidos, lo que permite conectarla posteriormente con otros componentes o con guías de entrada y salida del chip.</a:t>
            </a:r>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15CFFC7C-D424-5C94-84D9-1701071FBD95}"/>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27C705A4-399D-C5C5-39DC-4A9638A388D3}"/>
              </a:ext>
            </a:extLst>
          </p:cNvPr>
          <p:cNvPicPr>
            <a:picLocks noChangeAspect="1"/>
          </p:cNvPicPr>
          <p:nvPr/>
        </p:nvPicPr>
        <p:blipFill>
          <a:blip r:embed="rId4"/>
          <a:stretch>
            <a:fillRect/>
          </a:stretch>
        </p:blipFill>
        <p:spPr>
          <a:xfrm>
            <a:off x="6376555" y="1549617"/>
            <a:ext cx="5382488" cy="4063251"/>
          </a:xfrm>
          <a:prstGeom prst="rect">
            <a:avLst/>
          </a:prstGeom>
        </p:spPr>
      </p:pic>
    </p:spTree>
    <p:extLst>
      <p:ext uri="{BB962C8B-B14F-4D97-AF65-F5344CB8AC3E}">
        <p14:creationId xmlns:p14="http://schemas.microsoft.com/office/powerpoint/2010/main" val="2755367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F9B55-78CF-C35E-B8DB-96DBC8347A7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22C3401-92F7-8EF5-B9E7-266ADBFA2E0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#3 – Notebook section 3. Complete layout</a:t>
            </a:r>
            <a:endParaRPr sz="2500" b="0" i="1">
              <a:latin typeface="+mj-lt"/>
              <a:cs typeface="Lucida Sans"/>
            </a:endParaRPr>
          </a:p>
        </p:txBody>
      </p:sp>
      <p:pic>
        <p:nvPicPr>
          <p:cNvPr id="83" name="Gráfico 82">
            <a:extLst>
              <a:ext uri="{FF2B5EF4-FFF2-40B4-BE49-F238E27FC236}">
                <a16:creationId xmlns:a16="http://schemas.microsoft.com/office/drawing/2014/main" id="{EEBEC759-20B8-216B-19A5-A926C1081E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00F7289-669A-730C-E64F-403FD45B8FF4}"/>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1FB75781-72BD-C031-C2C7-BB3A2BAAD228}"/>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FAB994A9-0243-E187-7320-4132B54DEFC5}"/>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En este bloque se instancia la celda del divisor dentro del </a:t>
            </a:r>
            <a:r>
              <a:rPr lang="es-ES" sz="1200" err="1">
                <a:latin typeface="Arial" panose="020B0604020202020204" pitchFamily="34" charset="0"/>
                <a:cs typeface="Arial" panose="020B0604020202020204" pitchFamily="34" charset="0"/>
              </a:rPr>
              <a:t>layout</a:t>
            </a:r>
            <a:r>
              <a:rPr lang="es-ES" sz="1200">
                <a:latin typeface="Arial" panose="020B0604020202020204" pitchFamily="34" charset="0"/>
                <a:cs typeface="Arial" panose="020B0604020202020204" pitchFamily="34" charset="0"/>
              </a:rPr>
              <a:t> principal. Además, se añaden guías rectas en los bordes del chip para representar los accesos ópticos exteriores. Después, se enrutan las conexiones entre el divisor y las guías de entrada/salida. El resultado es un </a:t>
            </a:r>
            <a:r>
              <a:rPr lang="es-ES" sz="1200" err="1">
                <a:latin typeface="Arial" panose="020B0604020202020204" pitchFamily="34" charset="0"/>
                <a:cs typeface="Arial" panose="020B0604020202020204" pitchFamily="34" charset="0"/>
              </a:rPr>
              <a:t>layout</a:t>
            </a:r>
            <a:r>
              <a:rPr lang="es-ES" sz="1200">
                <a:latin typeface="Arial" panose="020B0604020202020204" pitchFamily="34" charset="0"/>
                <a:cs typeface="Arial" panose="020B0604020202020204" pitchFamily="34" charset="0"/>
              </a:rPr>
              <a:t> jerárquico completo, donde un componente funcional queda colocado dentro del die y conectado a accesos externos.</a:t>
            </a:r>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7C57EE28-C6E6-019E-47CB-1D032E08843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2037C62C-ED79-98E7-CAC0-5F17F8CC48C9}"/>
              </a:ext>
            </a:extLst>
          </p:cNvPr>
          <p:cNvPicPr>
            <a:picLocks noChangeAspect="1"/>
          </p:cNvPicPr>
          <p:nvPr/>
        </p:nvPicPr>
        <p:blipFill>
          <a:blip r:embed="rId4"/>
          <a:stretch>
            <a:fillRect/>
          </a:stretch>
        </p:blipFill>
        <p:spPr>
          <a:xfrm>
            <a:off x="6331596" y="1363435"/>
            <a:ext cx="5472405" cy="4131129"/>
          </a:xfrm>
          <a:prstGeom prst="rect">
            <a:avLst/>
          </a:prstGeom>
        </p:spPr>
      </p:pic>
    </p:spTree>
    <p:extLst>
      <p:ext uri="{BB962C8B-B14F-4D97-AF65-F5344CB8AC3E}">
        <p14:creationId xmlns:p14="http://schemas.microsoft.com/office/powerpoint/2010/main" val="2044563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2B708D-0704-5977-EC6F-88CF05CBBE8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3C6D55FC-5031-5DAE-893E-BF135574793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Se ha creado una celda de MZI desbalanceado utilizando dos </a:t>
            </a:r>
            <a:r>
              <a:rPr lang="es-ES" sz="1200" err="1">
                <a:latin typeface="Arial" panose="020B0604020202020204" pitchFamily="34" charset="0"/>
                <a:cs typeface="Arial" panose="020B0604020202020204" pitchFamily="34" charset="0"/>
              </a:rPr>
              <a:t>MMIs</a:t>
            </a:r>
            <a:r>
              <a:rPr lang="es-ES" sz="1200">
                <a:latin typeface="Arial" panose="020B0604020202020204" pitchFamily="34" charset="0"/>
                <a:cs typeface="Arial" panose="020B0604020202020204" pitchFamily="34" charset="0"/>
              </a:rPr>
              <a:t> 2x2 50:50. Uno de los brazos se ha diseñado con una longitud mayor mediante un desvío rectangular. La diferencia de longitud entre ambos brazos se controla mediante el parámetro ΔL. </a:t>
            </a:r>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B7F15AC0-F440-2DF1-6C9D-0A7E2EAFC2C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AF101BF-6280-2F63-F0A5-EAAC62276F73}"/>
              </a:ext>
            </a:extLst>
          </p:cNvPr>
          <p:cNvPicPr>
            <a:picLocks noChangeAspect="1"/>
          </p:cNvPicPr>
          <p:nvPr/>
        </p:nvPicPr>
        <p:blipFill>
          <a:blip r:embed="rId4"/>
          <a:stretch>
            <a:fillRect/>
          </a:stretch>
        </p:blipFill>
        <p:spPr>
          <a:xfrm>
            <a:off x="6362699" y="1538999"/>
            <a:ext cx="5410200" cy="4084171"/>
          </a:xfrm>
          <a:prstGeom prst="rect">
            <a:avLst/>
          </a:prstGeom>
        </p:spPr>
      </p:pic>
    </p:spTree>
    <p:extLst>
      <p:ext uri="{BB962C8B-B14F-4D97-AF65-F5344CB8AC3E}">
        <p14:creationId xmlns:p14="http://schemas.microsoft.com/office/powerpoint/2010/main" val="708738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F28D3-308C-5935-EBB3-E16E056467E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F486F10-9DDB-2EBD-705C-A040E5507C14}"/>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A08D5E44-E81A-C872-4AD2-4964AE593E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0564D7D-2375-EC73-9E99-74C8B83206CC}"/>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0016B809-EDD8-361B-5339-372D9D538399}"/>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ECC99A9F-9238-5E3E-BA1A-10324208F037}"/>
              </a:ext>
            </a:extLst>
          </p:cNvPr>
          <p:cNvSpPr txBox="1"/>
          <p:nvPr/>
        </p:nvSpPr>
        <p:spPr>
          <a:xfrm>
            <a:off x="685800" y="990285"/>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Se ha creado una celda basada en el MZI desbalanceado anterior, añadiendo sintonizadores térmicos sobre ambos brazos. Estos elementos se han representado mediante rectángulos en una capa específica de </a:t>
            </a:r>
            <a:r>
              <a:rPr lang="es-ES" sz="1200" err="1">
                <a:latin typeface="Arial" panose="020B0604020202020204" pitchFamily="34" charset="0"/>
                <a:cs typeface="Arial" panose="020B0604020202020204" pitchFamily="34" charset="0"/>
              </a:rPr>
              <a:t>heater</a:t>
            </a:r>
            <a:r>
              <a:rPr lang="es-ES" sz="1200">
                <a:latin typeface="Arial" panose="020B0604020202020204" pitchFamily="34" charset="0"/>
                <a:cs typeface="Arial" panose="020B0604020202020204" pitchFamily="34" charset="0"/>
              </a:rPr>
              <a:t>. La función de los </a:t>
            </a:r>
            <a:r>
              <a:rPr lang="es-ES" sz="1200" err="1">
                <a:latin typeface="Arial" panose="020B0604020202020204" pitchFamily="34" charset="0"/>
                <a:cs typeface="Arial" panose="020B0604020202020204" pitchFamily="34" charset="0"/>
              </a:rPr>
              <a:t>thermal</a:t>
            </a:r>
            <a:r>
              <a:rPr lang="es-ES" sz="1200">
                <a:latin typeface="Arial" panose="020B0604020202020204" pitchFamily="34" charset="0"/>
                <a:cs typeface="Arial" panose="020B0604020202020204" pitchFamily="34" charset="0"/>
              </a:rPr>
              <a:t> </a:t>
            </a:r>
            <a:r>
              <a:rPr lang="es-ES" sz="1200" err="1">
                <a:latin typeface="Arial" panose="020B0604020202020204" pitchFamily="34" charset="0"/>
                <a:cs typeface="Arial" panose="020B0604020202020204" pitchFamily="34" charset="0"/>
              </a:rPr>
              <a:t>tuners</a:t>
            </a:r>
            <a:r>
              <a:rPr lang="es-ES" sz="1200">
                <a:latin typeface="Arial" panose="020B0604020202020204" pitchFamily="34" charset="0"/>
                <a:cs typeface="Arial" panose="020B0604020202020204" pitchFamily="34" charset="0"/>
              </a:rPr>
              <a:t> es modificar localmente el índice efectivo de la guía mediante calentamiento. Esto introduce un cambio de fase controlado en cada brazo, permitiendo ajustar térmicamente la interferencia en las salidas del MZI.</a:t>
            </a:r>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632F55E5-7B11-94E6-D42F-10F76FB60A24}"/>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DA8B5D45-52F8-FAA3-6142-90F763668E3C}"/>
              </a:ext>
            </a:extLst>
          </p:cNvPr>
          <p:cNvPicPr>
            <a:picLocks noChangeAspect="1"/>
          </p:cNvPicPr>
          <p:nvPr/>
        </p:nvPicPr>
        <p:blipFill>
          <a:blip r:embed="rId4"/>
          <a:stretch>
            <a:fillRect/>
          </a:stretch>
        </p:blipFill>
        <p:spPr>
          <a:xfrm>
            <a:off x="6283253" y="1479183"/>
            <a:ext cx="5569092" cy="4204118"/>
          </a:xfrm>
          <a:prstGeom prst="rect">
            <a:avLst/>
          </a:prstGeom>
        </p:spPr>
      </p:pic>
    </p:spTree>
    <p:extLst>
      <p:ext uri="{BB962C8B-B14F-4D97-AF65-F5344CB8AC3E}">
        <p14:creationId xmlns:p14="http://schemas.microsoft.com/office/powerpoint/2010/main" val="2111716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A2533-09F0-E60A-E496-61541C5C24A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CE04DFC-FAED-814F-8060-7E72FF17E7F1}"/>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6111E9AC-228C-44A9-2B20-93292F70C3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2645E60-F75F-EAE0-8E20-2BCFE543CACF}"/>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B407269B-A4B2-F728-19B1-0831CA7B6B3C}"/>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B25E35B8-03CF-F1EF-D53D-34CA1A964759}"/>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Se ha creado una celda de resonador en anillo </a:t>
            </a:r>
            <a:r>
              <a:rPr lang="es-ES" sz="1200" err="1">
                <a:latin typeface="Arial" panose="020B0604020202020204" pitchFamily="34" charset="0"/>
                <a:cs typeface="Arial" panose="020B0604020202020204" pitchFamily="34" charset="0"/>
              </a:rPr>
              <a:t>all-pass</a:t>
            </a:r>
            <a:r>
              <a:rPr lang="es-ES" sz="1200">
                <a:latin typeface="Arial" panose="020B0604020202020204" pitchFamily="34" charset="0"/>
                <a:cs typeface="Arial" panose="020B0604020202020204" pitchFamily="34" charset="0"/>
              </a:rPr>
              <a:t> utilizando un MMI 2x2 50:50 como elemento de acoplo. El anillo se forma conectando dos de los puertos del MMI mediante una guía cerrada con curvas suaves. Además, se ha añadido un parámetro de longitud extra que permite modificar el perímetro del anillo. Al aumentar el perímetro, cambia el FSR del resonador, ya que la separación entre resonancias depende inversamente de la longitud total del anillo.</a:t>
            </a:r>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797619D2-1A8B-7FB3-E2EA-97AB9A515799}"/>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90FEC6E5-80FA-A54A-BF24-5912BC446887}"/>
              </a:ext>
            </a:extLst>
          </p:cNvPr>
          <p:cNvPicPr>
            <a:picLocks noChangeAspect="1"/>
          </p:cNvPicPr>
          <p:nvPr/>
        </p:nvPicPr>
        <p:blipFill>
          <a:blip r:embed="rId4"/>
          <a:stretch>
            <a:fillRect/>
          </a:stretch>
        </p:blipFill>
        <p:spPr>
          <a:xfrm>
            <a:off x="6313571" y="1501913"/>
            <a:ext cx="5508455" cy="4158344"/>
          </a:xfrm>
          <a:prstGeom prst="rect">
            <a:avLst/>
          </a:prstGeom>
        </p:spPr>
      </p:pic>
    </p:spTree>
    <p:extLst>
      <p:ext uri="{BB962C8B-B14F-4D97-AF65-F5344CB8AC3E}">
        <p14:creationId xmlns:p14="http://schemas.microsoft.com/office/powerpoint/2010/main" val="942889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56240-0281-B849-F3C6-ACE651243CB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08E2DCB-2732-AE5E-6D04-3DB11D73A0C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26BC2657-1C57-A86D-76A5-FDE2819164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AA17560-5B09-DBCF-CD82-4D679CD00AD9}"/>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6BE322AA-9D62-1C03-1D37-530BF4CDF9EB}"/>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672B4441-FF92-9053-35D4-C16ECB4F5215}"/>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Se ha creado una celda basada en el resonador en anillo anterior, añadiendo un </a:t>
            </a:r>
            <a:r>
              <a:rPr lang="es-ES" sz="1200" err="1">
                <a:latin typeface="Arial" panose="020B0604020202020204" pitchFamily="34" charset="0"/>
                <a:cs typeface="Arial" panose="020B0604020202020204" pitchFamily="34" charset="0"/>
              </a:rPr>
              <a:t>thermal</a:t>
            </a:r>
            <a:r>
              <a:rPr lang="es-ES" sz="1200">
                <a:latin typeface="Arial" panose="020B0604020202020204" pitchFamily="34" charset="0"/>
                <a:cs typeface="Arial" panose="020B0604020202020204" pitchFamily="34" charset="0"/>
              </a:rPr>
              <a:t> </a:t>
            </a:r>
            <a:r>
              <a:rPr lang="es-ES" sz="1200" err="1">
                <a:latin typeface="Arial" panose="020B0604020202020204" pitchFamily="34" charset="0"/>
                <a:cs typeface="Arial" panose="020B0604020202020204" pitchFamily="34" charset="0"/>
              </a:rPr>
              <a:t>tuner</a:t>
            </a:r>
            <a:r>
              <a:rPr lang="es-ES" sz="1200">
                <a:latin typeface="Arial" panose="020B0604020202020204" pitchFamily="34" charset="0"/>
                <a:cs typeface="Arial" panose="020B0604020202020204" pitchFamily="34" charset="0"/>
              </a:rPr>
              <a:t> sobre el perímetro del anillo. El </a:t>
            </a:r>
            <a:r>
              <a:rPr lang="es-ES" sz="1200" err="1">
                <a:latin typeface="Arial" panose="020B0604020202020204" pitchFamily="34" charset="0"/>
                <a:cs typeface="Arial" panose="020B0604020202020204" pitchFamily="34" charset="0"/>
              </a:rPr>
              <a:t>heater</a:t>
            </a:r>
            <a:r>
              <a:rPr lang="es-ES" sz="1200">
                <a:latin typeface="Arial" panose="020B0604020202020204" pitchFamily="34" charset="0"/>
                <a:cs typeface="Arial" panose="020B0604020202020204" pitchFamily="34" charset="0"/>
              </a:rPr>
              <a:t> se define en una capa específica y sigue el mismo recorrido que la guía óptica resonante. Su función es modificar térmicamente el índice efectivo a lo largo del anillo, desplazando las longitudes de onda de resonancia del dispositivo.</a:t>
            </a:r>
          </a:p>
          <a:p>
            <a:pPr algn="just"/>
            <a:endParaRPr lang="es-E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49220CA3-4F23-F628-66B9-6E5D78749ED1}"/>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A2A822DC-0604-9F3D-9CD3-D1EDAA8615B6}"/>
              </a:ext>
            </a:extLst>
          </p:cNvPr>
          <p:cNvPicPr>
            <a:picLocks noChangeAspect="1"/>
          </p:cNvPicPr>
          <p:nvPr/>
        </p:nvPicPr>
        <p:blipFill>
          <a:blip r:embed="rId4"/>
          <a:stretch>
            <a:fillRect/>
          </a:stretch>
        </p:blipFill>
        <p:spPr>
          <a:xfrm>
            <a:off x="6350122" y="1529663"/>
            <a:ext cx="5435354" cy="4103159"/>
          </a:xfrm>
          <a:prstGeom prst="rect">
            <a:avLst/>
          </a:prstGeom>
        </p:spPr>
      </p:pic>
    </p:spTree>
    <p:extLst>
      <p:ext uri="{BB962C8B-B14F-4D97-AF65-F5344CB8AC3E}">
        <p14:creationId xmlns:p14="http://schemas.microsoft.com/office/powerpoint/2010/main" val="1760098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98BC4-C7D4-BF9F-327E-9980661466F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13C6AA8-CB88-209D-CD74-2B1B6C7A2719}"/>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F929E1C4-4AE8-C6D2-1794-D9E67E963D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E6F94F8-069F-8A38-6914-68D22E694119}"/>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00892DEC-E2ED-0529-7E07-B0603FBDDF3F}"/>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6E0096A1-C463-87F3-A1C8-3F36C874B5C8}"/>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Se ha creado una celda basada en componentes espirales existentes en </a:t>
            </a:r>
            <a:r>
              <a:rPr lang="es-ES" sz="1200" err="1">
                <a:latin typeface="Arial" panose="020B0604020202020204" pitchFamily="34" charset="0"/>
                <a:cs typeface="Arial" panose="020B0604020202020204" pitchFamily="34" charset="0"/>
              </a:rPr>
              <a:t>GDSFactory</a:t>
            </a:r>
            <a:r>
              <a:rPr lang="es-ES" sz="1200">
                <a:latin typeface="Arial" panose="020B0604020202020204" pitchFamily="34" charset="0"/>
                <a:cs typeface="Arial" panose="020B0604020202020204" pitchFamily="34" charset="0"/>
              </a:rPr>
              <a:t>. La espiral permite implementar una longitud elevada de guía óptica ocupando un área reducida dentro del chip. La longitud se ha incluido como parámetro, de forma que se pueden generar espirales con diferentes longitudes de propagación. </a:t>
            </a:r>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3A99115F-161B-1DE3-7760-71365C48327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B3EB0D54-0613-051B-2C62-8A9F7ED88935}"/>
              </a:ext>
            </a:extLst>
          </p:cNvPr>
          <p:cNvPicPr>
            <a:picLocks noChangeAspect="1"/>
          </p:cNvPicPr>
          <p:nvPr/>
        </p:nvPicPr>
        <p:blipFill>
          <a:blip r:embed="rId4"/>
          <a:stretch>
            <a:fillRect/>
          </a:stretch>
        </p:blipFill>
        <p:spPr>
          <a:xfrm>
            <a:off x="6291942" y="1485585"/>
            <a:ext cx="5551713" cy="4191000"/>
          </a:xfrm>
          <a:prstGeom prst="rect">
            <a:avLst/>
          </a:prstGeom>
        </p:spPr>
      </p:pic>
    </p:spTree>
    <p:extLst>
      <p:ext uri="{BB962C8B-B14F-4D97-AF65-F5344CB8AC3E}">
        <p14:creationId xmlns:p14="http://schemas.microsoft.com/office/powerpoint/2010/main" val="204995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2DF07-4FB9-453D-E288-570937F4D5D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7F1A261-080B-427C-93AB-24EF97C08361}"/>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0EB46F87-8FBD-D4B1-8E27-EC13D4867E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62BBBC8-3B7B-A92D-3E99-ACAF17630F81}"/>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9383EAB9-07DC-FA9B-BC76-D0B63CC366F2}"/>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9C263CCC-D1BF-0476-D444-7EE0B7323323}"/>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Se ha creado una celda de die con dimensiones W=5mm y L=10mm, equivalentes a 5000μm×10000μm. El contorno del chip se ha definido mediante una capa de </a:t>
            </a:r>
            <a:r>
              <a:rPr lang="es-ES" sz="1200" err="1">
                <a:latin typeface="Arial" panose="020B0604020202020204" pitchFamily="34" charset="0"/>
                <a:cs typeface="Arial" panose="020B0604020202020204" pitchFamily="34" charset="0"/>
              </a:rPr>
              <a:t>floorplan</a:t>
            </a:r>
            <a:r>
              <a:rPr lang="es-ES" sz="1200">
                <a:latin typeface="Arial" panose="020B0604020202020204" pitchFamily="34" charset="0"/>
                <a:cs typeface="Arial" panose="020B0604020202020204" pitchFamily="34" charset="0"/>
              </a:rPr>
              <a:t>. Esta celda sirve como base del diseño global, ya que posteriormente se colocarán dentro de ella los componentes fotónicos y los accesos ópticos del chip.</a:t>
            </a:r>
            <a:r>
              <a:rPr lang="en-US" sz="1200">
                <a:latin typeface="Arial" panose="020B0604020202020204" pitchFamily="34" charset="0"/>
                <a:cs typeface="Arial" panose="020B0604020202020204" pitchFamily="34" charset="0"/>
              </a:rPr>
              <a:t> </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20554FE9-FA32-F837-F3DF-443107CA644E}"/>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759B35C0-7049-D03A-C435-465C3C1B44F4}"/>
              </a:ext>
            </a:extLst>
          </p:cNvPr>
          <p:cNvPicPr>
            <a:picLocks noChangeAspect="1"/>
          </p:cNvPicPr>
          <p:nvPr/>
        </p:nvPicPr>
        <p:blipFill>
          <a:blip r:embed="rId4"/>
          <a:stretch>
            <a:fillRect/>
          </a:stretch>
        </p:blipFill>
        <p:spPr>
          <a:xfrm>
            <a:off x="6338770" y="1520935"/>
            <a:ext cx="5458058" cy="4120299"/>
          </a:xfrm>
          <a:prstGeom prst="rect">
            <a:avLst/>
          </a:prstGeom>
        </p:spPr>
      </p:pic>
    </p:spTree>
    <p:extLst>
      <p:ext uri="{BB962C8B-B14F-4D97-AF65-F5344CB8AC3E}">
        <p14:creationId xmlns:p14="http://schemas.microsoft.com/office/powerpoint/2010/main" val="1714365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455DB-4C8F-4216-60CC-00D93EBD3F1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2E7BCC9-65F9-E001-4635-0EC8F945C2D4}"/>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C1540726-C36E-6185-DF1B-830E5DAF36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90494FD-F401-F3EE-7666-D0AA2E9F127B}"/>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37C1746D-671E-9B85-4CD0-CF0407915C2A}"/>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572CB8B0-61F2-2E0F-C0D3-202692776341}"/>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Se ha creado un array de accesos ópticos separados 250μm entre sí. Cada I/O se ha implementado como una guía recta con la misma anchura que las guías del diseño. Además, cada acceso se ha definido como puerto, lo que permite conectarlo posteriormente con los componentes fotónicos del chip. Esta separación regular facilita el </a:t>
            </a:r>
            <a:r>
              <a:rPr lang="es-ES" sz="1200" err="1">
                <a:latin typeface="Arial" panose="020B0604020202020204" pitchFamily="34" charset="0"/>
                <a:cs typeface="Arial" panose="020B0604020202020204" pitchFamily="34" charset="0"/>
              </a:rPr>
              <a:t>floorplanning</a:t>
            </a:r>
            <a:r>
              <a:rPr lang="es-ES" sz="1200">
                <a:latin typeface="Arial" panose="020B0604020202020204" pitchFamily="34" charset="0"/>
                <a:cs typeface="Arial" panose="020B0604020202020204" pitchFamily="34" charset="0"/>
              </a:rPr>
              <a:t> y la conexión ordenada de los dispositivos.</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BA8032DA-BA1B-4028-7384-EE6C4BD0932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073271AD-0E87-42C4-900D-9AE797F5BDEE}"/>
              </a:ext>
            </a:extLst>
          </p:cNvPr>
          <p:cNvPicPr>
            <a:picLocks noChangeAspect="1"/>
          </p:cNvPicPr>
          <p:nvPr/>
        </p:nvPicPr>
        <p:blipFill>
          <a:blip r:embed="rId4"/>
          <a:stretch>
            <a:fillRect/>
          </a:stretch>
        </p:blipFill>
        <p:spPr>
          <a:xfrm>
            <a:off x="6367647" y="1542892"/>
            <a:ext cx="5400304" cy="4076700"/>
          </a:xfrm>
          <a:prstGeom prst="rect">
            <a:avLst/>
          </a:prstGeom>
        </p:spPr>
      </p:pic>
    </p:spTree>
    <p:extLst>
      <p:ext uri="{BB962C8B-B14F-4D97-AF65-F5344CB8AC3E}">
        <p14:creationId xmlns:p14="http://schemas.microsoft.com/office/powerpoint/2010/main" val="2860410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D7666-3E3E-9935-7306-C4450A0B44C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8F491E8-B31C-D1DE-F2E6-3F308EB9C982}"/>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581D28BA-CD45-D63D-E66B-EDC5831701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368EDE0-B120-6A6C-FC34-04F5F7AB279F}"/>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CE7510B3-FC39-BD0A-9A23-DE79428A1796}"/>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FF0D80B9-64FC-707B-1979-F56800F4E14C}"/>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En esta diapositiva se ha creado una celda de die que integra tanto el contorno del chip como los </a:t>
            </a:r>
            <a:r>
              <a:rPr lang="es-ES" sz="1200" err="1">
                <a:latin typeface="Arial" panose="020B0604020202020204" pitchFamily="34" charset="0"/>
                <a:cs typeface="Arial" panose="020B0604020202020204" pitchFamily="34" charset="0"/>
              </a:rPr>
              <a:t>arrays</a:t>
            </a:r>
            <a:r>
              <a:rPr lang="es-ES" sz="1200">
                <a:latin typeface="Arial" panose="020B0604020202020204" pitchFamily="34" charset="0"/>
                <a:cs typeface="Arial" panose="020B0604020202020204" pitchFamily="34" charset="0"/>
              </a:rPr>
              <a:t> de I/Os laterales. Los accesos se han colocado en los bordes del die y se han definido como puertos accesibles. Esto permite utilizar el die como componente host del </a:t>
            </a:r>
            <a:r>
              <a:rPr lang="es-ES" sz="1200" err="1">
                <a:latin typeface="Arial" panose="020B0604020202020204" pitchFamily="34" charset="0"/>
                <a:cs typeface="Arial" panose="020B0604020202020204" pitchFamily="34" charset="0"/>
              </a:rPr>
              <a:t>layout</a:t>
            </a:r>
            <a:r>
              <a:rPr lang="es-ES" sz="1200">
                <a:latin typeface="Arial" panose="020B0604020202020204" pitchFamily="34" charset="0"/>
                <a:cs typeface="Arial" panose="020B0604020202020204" pitchFamily="34" charset="0"/>
              </a:rPr>
              <a:t> completo y conectar los dispositivos internos a los accesos exteriores mediante rutas ópticas.</a:t>
            </a:r>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FC8CC8C6-0C4E-53B3-22EE-2A28BAE78006}"/>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90D9846-A1E8-1E72-2EC4-EBC23F8BA132}"/>
              </a:ext>
            </a:extLst>
          </p:cNvPr>
          <p:cNvPicPr>
            <a:picLocks noChangeAspect="1"/>
          </p:cNvPicPr>
          <p:nvPr/>
        </p:nvPicPr>
        <p:blipFill>
          <a:blip r:embed="rId4"/>
          <a:stretch>
            <a:fillRect/>
          </a:stretch>
        </p:blipFill>
        <p:spPr>
          <a:xfrm>
            <a:off x="6329476" y="1513919"/>
            <a:ext cx="5476646" cy="4134331"/>
          </a:xfrm>
          <a:prstGeom prst="rect">
            <a:avLst/>
          </a:prstGeom>
        </p:spPr>
      </p:pic>
    </p:spTree>
    <p:extLst>
      <p:ext uri="{BB962C8B-B14F-4D97-AF65-F5344CB8AC3E}">
        <p14:creationId xmlns:p14="http://schemas.microsoft.com/office/powerpoint/2010/main" val="2898379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816A3-DAB7-73F2-508D-EFD906127B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5925078-891B-BC1B-1180-1F2E2E48CA08}"/>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a:t>Learning outcome #4 – Notebook section 4. Exercises – 1 slide per bullet point</a:t>
            </a:r>
            <a:endParaRPr sz="2500" b="0" i="1">
              <a:latin typeface="+mj-lt"/>
              <a:cs typeface="Lucida Sans"/>
            </a:endParaRPr>
          </a:p>
        </p:txBody>
      </p:sp>
      <p:pic>
        <p:nvPicPr>
          <p:cNvPr id="83" name="Gráfico 82">
            <a:extLst>
              <a:ext uri="{FF2B5EF4-FFF2-40B4-BE49-F238E27FC236}">
                <a16:creationId xmlns:a16="http://schemas.microsoft.com/office/drawing/2014/main" id="{DB6F6ED6-4950-A5CF-D91D-A601163629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61D8DE5-AD9B-436C-6940-B53859DCAFC4}"/>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FA68102D-FFE5-64BB-BD5B-8F7613C8E036}"/>
              </a:ext>
            </a:extLst>
          </p:cNvPr>
          <p:cNvSpPr>
            <a:spLocks noGrp="1"/>
          </p:cNvSpPr>
          <p:nvPr>
            <p:ph type="ftr" sz="quarter" idx="5"/>
          </p:nvPr>
        </p:nvSpPr>
        <p:spPr/>
        <p:txBody>
          <a:bodyPr/>
          <a:lstStyle/>
          <a:p>
            <a:pPr marL="12700">
              <a:spcBef>
                <a:spcPts val="15"/>
              </a:spcBef>
            </a:pPr>
            <a:r>
              <a:rPr lang="es-ES" spc="-5"/>
              <a:t>LAB 4.0. LAYOUT</a:t>
            </a:r>
          </a:p>
        </p:txBody>
      </p:sp>
      <p:sp>
        <p:nvSpPr>
          <p:cNvPr id="2" name="CuadroTexto 1">
            <a:extLst>
              <a:ext uri="{FF2B5EF4-FFF2-40B4-BE49-F238E27FC236}">
                <a16:creationId xmlns:a16="http://schemas.microsoft.com/office/drawing/2014/main" id="{722F2D32-18E7-9773-E663-4BA75CC56B87}"/>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200">
                <a:latin typeface="Arial" panose="020B0604020202020204" pitchFamily="34" charset="0"/>
                <a:cs typeface="Arial" panose="020B0604020202020204" pitchFamily="34" charset="0"/>
              </a:rPr>
              <a:t>En esta última diapositiva se muestra el </a:t>
            </a:r>
            <a:r>
              <a:rPr lang="es-ES" sz="1200" err="1">
                <a:latin typeface="Arial" panose="020B0604020202020204" pitchFamily="34" charset="0"/>
                <a:cs typeface="Arial" panose="020B0604020202020204" pitchFamily="34" charset="0"/>
              </a:rPr>
              <a:t>layout</a:t>
            </a:r>
            <a:r>
              <a:rPr lang="es-ES" sz="1200">
                <a:latin typeface="Arial" panose="020B0604020202020204" pitchFamily="34" charset="0"/>
                <a:cs typeface="Arial" panose="020B0604020202020204" pitchFamily="34" charset="0"/>
              </a:rPr>
              <a:t> completo del chip. Se ha instanciado la celda de die como componente principal y se han colocado dentro del área útil distintos bloques fotónicos. Se han añadido tres grupos de tres guías rectas distribuidas en la zona superior, media e inferior del die. Además, se han incluido dos instancias de los componentes creados previamente, con diferentes longitudes o parámetros: </a:t>
            </a:r>
            <a:r>
              <a:rPr lang="es-ES" sz="1200" err="1">
                <a:latin typeface="Arial" panose="020B0604020202020204" pitchFamily="34" charset="0"/>
                <a:cs typeface="Arial" panose="020B0604020202020204" pitchFamily="34" charset="0"/>
              </a:rPr>
              <a:t>MZIs</a:t>
            </a:r>
            <a:r>
              <a:rPr lang="es-ES" sz="1200">
                <a:latin typeface="Arial" panose="020B0604020202020204" pitchFamily="34" charset="0"/>
                <a:cs typeface="Arial" panose="020B0604020202020204" pitchFamily="34" charset="0"/>
              </a:rPr>
              <a:t>, resonadores en anillo y espirales. Finalmente, los componentes se han conectado a los I/Os laterales mediante guías ópticas. El resultado demuestra la integración jerárquica de las celdas creadas previamente dentro de un mismo </a:t>
            </a:r>
            <a:r>
              <a:rPr lang="es-ES" sz="1200" err="1">
                <a:latin typeface="Arial" panose="020B0604020202020204" pitchFamily="34" charset="0"/>
                <a:cs typeface="Arial" panose="020B0604020202020204" pitchFamily="34" charset="0"/>
              </a:rPr>
              <a:t>floorplan</a:t>
            </a:r>
            <a:r>
              <a:rPr lang="es-ES" sz="1200">
                <a:latin typeface="Arial" panose="020B0604020202020204" pitchFamily="34" charset="0"/>
                <a:cs typeface="Arial" panose="020B0604020202020204" pitchFamily="34" charset="0"/>
              </a:rPr>
              <a:t>. Aunque el diseño podría optimizarse en compactación y </a:t>
            </a:r>
            <a:r>
              <a:rPr lang="es-ES" sz="1200" err="1">
                <a:latin typeface="Arial" panose="020B0604020202020204" pitchFamily="34" charset="0"/>
                <a:cs typeface="Arial" panose="020B0604020202020204" pitchFamily="34" charset="0"/>
              </a:rPr>
              <a:t>routing</a:t>
            </a:r>
            <a:r>
              <a:rPr lang="es-ES" sz="1200">
                <a:latin typeface="Arial" panose="020B0604020202020204" pitchFamily="34" charset="0"/>
                <a:cs typeface="Arial" panose="020B0604020202020204" pitchFamily="34" charset="0"/>
              </a:rPr>
              <a:t>, cumple el objetivo de mostrar un </a:t>
            </a:r>
            <a:r>
              <a:rPr lang="es-ES" sz="1200" err="1">
                <a:latin typeface="Arial" panose="020B0604020202020204" pitchFamily="34" charset="0"/>
                <a:cs typeface="Arial" panose="020B0604020202020204" pitchFamily="34" charset="0"/>
              </a:rPr>
              <a:t>layout</a:t>
            </a:r>
            <a:r>
              <a:rPr lang="es-ES" sz="1200">
                <a:latin typeface="Arial" panose="020B0604020202020204" pitchFamily="34" charset="0"/>
                <a:cs typeface="Arial" panose="020B0604020202020204" pitchFamily="34" charset="0"/>
              </a:rPr>
              <a:t> completo con componentes conectados a accesos exteriores.</a:t>
            </a:r>
            <a:endParaRPr lang="en-US" sz="120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47E5FBB8-9C7A-7962-820C-5CC1566B162E}"/>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D2678E89-CCD0-2104-8C5D-F0259734543C}"/>
              </a:ext>
            </a:extLst>
          </p:cNvPr>
          <p:cNvPicPr>
            <a:picLocks noChangeAspect="1"/>
          </p:cNvPicPr>
          <p:nvPr/>
        </p:nvPicPr>
        <p:blipFill>
          <a:blip r:embed="rId4"/>
          <a:stretch>
            <a:fillRect/>
          </a:stretch>
        </p:blipFill>
        <p:spPr>
          <a:xfrm>
            <a:off x="6308270" y="1498069"/>
            <a:ext cx="5519057" cy="4166346"/>
          </a:xfrm>
          <a:prstGeom prst="rect">
            <a:avLst/>
          </a:prstGeom>
        </p:spPr>
      </p:pic>
    </p:spTree>
    <p:extLst>
      <p:ext uri="{BB962C8B-B14F-4D97-AF65-F5344CB8AC3E}">
        <p14:creationId xmlns:p14="http://schemas.microsoft.com/office/powerpoint/2010/main" val="3439052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26</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2114</Words>
  <Application>Microsoft Office PowerPoint</Application>
  <PresentationFormat>Panorámica</PresentationFormat>
  <Paragraphs>138</Paragraphs>
  <Slides>26</Slides>
  <Notes>23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26</vt:i4>
      </vt:variant>
    </vt:vector>
  </HeadingPairs>
  <TitlesOfParts>
    <vt:vector size="32" baseType="lpstr">
      <vt:lpstr>Aptos</vt:lpstr>
      <vt:lpstr>Arial</vt:lpstr>
      <vt:lpstr>Calibri</vt:lpstr>
      <vt:lpstr>Lucida Sans</vt:lpstr>
      <vt:lpstr>Wingdings</vt:lpstr>
      <vt:lpstr>Office Theme</vt:lpstr>
      <vt:lpstr>Presentación de PowerPoint</vt:lpstr>
      <vt:lpstr>Instructions General</vt:lpstr>
      <vt:lpstr>Learning outcome #1a – Notebook section 1. Technology “We will work with the demo UPVfab PDK. Let's view the layer distribution of this PDK”</vt:lpstr>
      <vt:lpstr>Learning outcome #1b – Notebook section 1. Technology – 1 slide per component “Use your design results from Lab2 and Lab3 to create layout instances of your designed components: DCs”</vt:lpstr>
      <vt:lpstr>Learning outcome #1b – Notebook section 1. Technology – 1 slide per component “Use your design results from Lab2 and Lab3 to create layout instances of your designed components: MMIs”</vt:lpstr>
      <vt:lpstr>Learning outcome #1b – Notebook section 1. Technology – 1 slide per component “Use your design results from Lab2 and Lab3 to create layout instances of your designed components: MZIs”</vt:lpstr>
      <vt:lpstr>Learning outcome #1b – Notebook section 1. Technology – 1 slide per component “Use your design results from Lab2 and Lab3 to create layout instances of your designed components: Ring Resonators”</vt:lpstr>
      <vt:lpstr>Learning outcome #2a – Notebook section 2. Layout Fundamentals “Once that we have a working 'new' component, we shall convert it into a Cell. This will allow us to have a hierarchical design”</vt:lpstr>
      <vt:lpstr>Learning outcome #2b – Notebook section 2. Layout Fundamentals – 1 slide per component “Use your design results from Lab2 and Lab3 to create layout instances of your designed components: DCs</vt:lpstr>
      <vt:lpstr>Learning outcome #2b – Notebook section 2. Layout Fundamentals – 1 slide per component “Use your design results from Lab2 and Lab3 to create layout instances of your designed components: MMIs</vt:lpstr>
      <vt:lpstr>Learning outcome #2b – Notebook section 2. Layout Fundamentals – 1 slide per component “Use your design results from Lab2 and Lab3 to create layout instances of your designed components: MZIs</vt:lpstr>
      <vt:lpstr>Learning outcome #2b – Notebook section 2. Layout Fundamentals – 1 slide per component “Use your design results from Lab2 and Lab3 to create layout instances of your designed components: Ring Resonators</vt:lpstr>
      <vt:lpstr>Learning outcome #3 – Notebook section 3. Complete layout</vt:lpstr>
      <vt:lpstr>Learning outcome #3 – Notebook section 3. Complete layout</vt:lpstr>
      <vt:lpstr>Learning outcome #3 – Notebook section 3. Complete layout</vt:lpstr>
      <vt:lpstr>Learning outcome #3 – Notebook section 3. Complete layout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Ivan Martinez Mora</cp:lastModifiedBy>
  <cp:revision>1</cp:revision>
  <dcterms:created xsi:type="dcterms:W3CDTF">2025-01-27T02:46:57Z</dcterms:created>
  <dcterms:modified xsi:type="dcterms:W3CDTF">2026-06-10T07:15:17Z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